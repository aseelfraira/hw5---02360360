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</p:sldMasterIdLst>
  <p:notesMasterIdLst>
    <p:notesMasterId r:id="rId26"/>
  </p:notesMasterIdLst>
  <p:handoutMasterIdLst>
    <p:handoutMasterId r:id="rId27"/>
  </p:handoutMasterIdLst>
  <p:sldIdLst>
    <p:sldId id="289" r:id="rId3"/>
    <p:sldId id="321" r:id="rId4"/>
    <p:sldId id="341" r:id="rId5"/>
    <p:sldId id="355" r:id="rId6"/>
    <p:sldId id="342" r:id="rId7"/>
    <p:sldId id="354" r:id="rId8"/>
    <p:sldId id="353" r:id="rId9"/>
    <p:sldId id="343" r:id="rId10"/>
    <p:sldId id="349" r:id="rId11"/>
    <p:sldId id="344" r:id="rId12"/>
    <p:sldId id="350" r:id="rId13"/>
    <p:sldId id="345" r:id="rId14"/>
    <p:sldId id="360" r:id="rId15"/>
    <p:sldId id="346" r:id="rId16"/>
    <p:sldId id="347" r:id="rId17"/>
    <p:sldId id="348" r:id="rId18"/>
    <p:sldId id="358" r:id="rId19"/>
    <p:sldId id="359" r:id="rId20"/>
    <p:sldId id="361" r:id="rId21"/>
    <p:sldId id="356" r:id="rId22"/>
    <p:sldId id="357" r:id="rId23"/>
    <p:sldId id="351" r:id="rId24"/>
    <p:sldId id="352" r:id="rId25"/>
  </p:sldIdLst>
  <p:sldSz cx="9144000" cy="6858000" type="screen4x3"/>
  <p:notesSz cx="6781800" cy="9918700"/>
  <p:defaultTextStyle>
    <a:defPPr>
      <a:defRPr lang="he-I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ner Elizarov" initials="AE" lastIdx="6" clrIdx="0">
    <p:extLst>
      <p:ext uri="{19B8F6BF-5375-455C-9EA6-DF929625EA0E}">
        <p15:presenceInfo xmlns:p15="http://schemas.microsoft.com/office/powerpoint/2012/main" userId="S-1-5-21-1390067357-606747145-725345543-41887" providerId="AD"/>
      </p:ext>
    </p:extLst>
  </p:cmAuthor>
  <p:cmAuthor id="2" name="Yaakov Sokolik" initials="YS" lastIdx="1" clrIdx="1">
    <p:extLst>
      <p:ext uri="{19B8F6BF-5375-455C-9EA6-DF929625EA0E}">
        <p15:presenceInfo xmlns:p15="http://schemas.microsoft.com/office/powerpoint/2012/main" userId="S::yaakovs@campus.technion.ac.il::6fd885bf-779b-46c3-9157-7451e17c24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981" autoAdjust="0"/>
    <p:restoredTop sz="79887" autoAdjust="0"/>
  </p:normalViewPr>
  <p:slideViewPr>
    <p:cSldViewPr>
      <p:cViewPr varScale="1">
        <p:scale>
          <a:sx n="76" d="100"/>
          <a:sy n="76" d="100"/>
        </p:scale>
        <p:origin x="106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rtl="1" eaLnBrk="1" hangingPunct="1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88" y="0"/>
            <a:ext cx="2938462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rtl="1" eaLnBrk="1" hangingPunct="1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843338" y="9421813"/>
            <a:ext cx="2938462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rtl="1" eaLnBrk="1" hangingPunct="1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88" y="9421813"/>
            <a:ext cx="2938462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rtl="1" eaLnBrk="1" hangingPunct="1">
              <a:defRPr sz="1300"/>
            </a:lvl1pPr>
          </a:lstStyle>
          <a:p>
            <a:pPr>
              <a:defRPr/>
            </a:pPr>
            <a:fld id="{7CDBCD3A-4B42-449D-8B6B-5DAFA9619CEE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21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38462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43338" y="9421813"/>
            <a:ext cx="2938462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9421813"/>
            <a:ext cx="2938462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/>
            </a:lvl1pPr>
          </a:lstStyle>
          <a:p>
            <a:pPr>
              <a:defRPr/>
            </a:pPr>
            <a:fld id="{C63D4913-48CC-4790-B3FC-58F89F2E4B2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642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level virtual machine intermediate </a:t>
            </a:r>
            <a:r>
              <a:rPr lang="en-US" dirty="0" err="1"/>
              <a:t>represention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46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בשלמים, ה </a:t>
            </a:r>
            <a:r>
              <a:rPr lang="en-US" dirty="0" err="1"/>
              <a:t>i</a:t>
            </a:r>
            <a:r>
              <a:rPr lang="he-IL" dirty="0"/>
              <a:t>  מייצג </a:t>
            </a:r>
            <a:r>
              <a:rPr lang="en-US" dirty="0"/>
              <a:t>integer</a:t>
            </a:r>
            <a:endParaRPr lang="he-IL" dirty="0"/>
          </a:p>
          <a:p>
            <a:r>
              <a:rPr lang="he-IL" dirty="0"/>
              <a:t>כן אפשר כל מספר ביטים, אבל יכול להיות מאחורי הקלעים שדברים בזיכרון יראו אחרת (למשל </a:t>
            </a:r>
            <a:r>
              <a:rPr lang="en-US" dirty="0"/>
              <a:t>i7</a:t>
            </a:r>
            <a:r>
              <a:rPr lang="he-IL" dirty="0"/>
              <a:t> בזיכרון יקבל בפועל 8 ביט)</a:t>
            </a:r>
            <a:endParaRPr lang="en-US" dirty="0"/>
          </a:p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65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I32</a:t>
            </a:r>
            <a:r>
              <a:rPr lang="he-IL" dirty="0"/>
              <a:t>  מייצג את טיפוס התוצאה. במקרה זה, התוצאה ב </a:t>
            </a:r>
            <a:r>
              <a:rPr lang="en-US" dirty="0"/>
              <a:t>var1</a:t>
            </a:r>
            <a:r>
              <a:rPr lang="he-IL" dirty="0"/>
              <a:t> תהיה מספר שלם באורך 32 ביטים.</a:t>
            </a:r>
          </a:p>
          <a:p>
            <a:r>
              <a:rPr lang="he-IL" dirty="0"/>
              <a:t>שני האופרנדים חייבים להיות מאותו הטיפוס.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8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7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לשים לב שזו חלוקה שמחזירה מספר שלם.</a:t>
            </a:r>
            <a:endParaRPr lang="en-US" dirty="0"/>
          </a:p>
          <a:p>
            <a:r>
              <a:rPr lang="he-IL" dirty="0"/>
              <a:t>מבחינת המימוש במעבד יש הבדל בחלוקה </a:t>
            </a:r>
            <a:r>
              <a:rPr lang="en-US" dirty="0"/>
              <a:t>sign</a:t>
            </a:r>
            <a:r>
              <a:rPr lang="he-IL" dirty="0"/>
              <a:t> (יכולה להוביל ל </a:t>
            </a:r>
            <a:r>
              <a:rPr lang="en-US" dirty="0"/>
              <a:t>Overflow</a:t>
            </a:r>
            <a:r>
              <a:rPr lang="he-IL" dirty="0"/>
              <a:t>) לבין </a:t>
            </a:r>
            <a:r>
              <a:rPr lang="en-US" dirty="0"/>
              <a:t>unsigned</a:t>
            </a:r>
            <a:r>
              <a:rPr lang="he-IL" dirty="0"/>
              <a:t>.</a:t>
            </a:r>
          </a:p>
          <a:p>
            <a:r>
              <a:rPr lang="he-IL" dirty="0"/>
              <a:t>אם מחלקים</a:t>
            </a:r>
            <a:r>
              <a:rPr lang="he-IL" baseline="0" dirty="0"/>
              <a:t> ב-0 התוצאה לא מוגדרת ולא נקבל שגיאה</a:t>
            </a:r>
            <a:endParaRPr lang="he-IL" dirty="0"/>
          </a:p>
          <a:p>
            <a:endParaRPr lang="he-IL" dirty="0"/>
          </a:p>
          <a:p>
            <a:r>
              <a:rPr lang="he-IL" dirty="0"/>
              <a:t>הערה לגבי ההבדל בין חלוקה </a:t>
            </a:r>
            <a:r>
              <a:rPr lang="en-US" dirty="0"/>
              <a:t>signed</a:t>
            </a:r>
            <a:r>
              <a:rPr lang="he-IL" dirty="0"/>
              <a:t> ל </a:t>
            </a:r>
            <a:r>
              <a:rPr lang="en-US" dirty="0"/>
              <a:t>unsigned</a:t>
            </a:r>
            <a:r>
              <a:rPr lang="he-IL" dirty="0"/>
              <a:t>:</a:t>
            </a:r>
          </a:p>
          <a:p>
            <a:pPr algn="l"/>
            <a:r>
              <a:rPr lang="en-US" dirty="0"/>
              <a:t>Considering a number to be unsinged using the 2’s complement representation, we get that there are more negative number than positive numbers (Since the representation of zero – 000…0 is “at the expense of” the positive numbers).</a:t>
            </a:r>
          </a:p>
          <a:p>
            <a:pPr algn="l"/>
            <a:r>
              <a:rPr lang="en-US" dirty="0"/>
              <a:t>Thus, dividing two singed number could leads to overflow: Let –x bet the smallest negative number in 2’s complement. In case we will do the following (-x/-1), we will get overflow, since we can’t represent the number x in 2’s complement.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99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הפקודה הראשנה מקצה מקום למשתנה יחיד מסוג </a:t>
            </a:r>
            <a:r>
              <a:rPr lang="en-US" dirty="0"/>
              <a:t>i32</a:t>
            </a:r>
            <a:endParaRPr lang="he-IL" dirty="0"/>
          </a:p>
          <a:p>
            <a:r>
              <a:rPr lang="he-IL" dirty="0"/>
              <a:t>הפקודה השניה מקצה 4 מקומות למשתנה מסוג </a:t>
            </a:r>
            <a:r>
              <a:rPr lang="en-US" dirty="0"/>
              <a:t>i32</a:t>
            </a:r>
            <a:r>
              <a:rPr lang="he-IL" dirty="0"/>
              <a:t> ויחזיר מצביע </a:t>
            </a:r>
            <a:r>
              <a:rPr lang="he-IL"/>
              <a:t>לאיבר הראשון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70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err="1">
                <a:latin typeface="Monaco" pitchFamily="2" charset="77"/>
              </a:rPr>
              <a:t>MyArr</a:t>
            </a:r>
            <a:r>
              <a:rPr lang="he-IL" sz="1200" dirty="0">
                <a:latin typeface="Monaco" pitchFamily="2" charset="77"/>
              </a:rPr>
              <a:t> הוא מצביע לזכרון, ששם מוקצה מקום למערך יחיד בגודל 10.</a:t>
            </a:r>
          </a:p>
          <a:p>
            <a:r>
              <a:rPr lang="he-IL" sz="1200" dirty="0">
                <a:latin typeface="Monaco" pitchFamily="2" charset="77"/>
              </a:rPr>
              <a:t>נסתכל על הדוגמא השניה:</a:t>
            </a:r>
          </a:p>
          <a:p>
            <a:r>
              <a:rPr lang="he-IL" sz="1200" dirty="0">
                <a:latin typeface="Monaco" pitchFamily="2" charset="77"/>
              </a:rPr>
              <a:t>הפונקציה </a:t>
            </a:r>
            <a:r>
              <a:rPr lang="en-US" sz="1200" dirty="0" err="1">
                <a:latin typeface="Monaco" pitchFamily="2" charset="77"/>
              </a:rPr>
              <a:t>getelementptr</a:t>
            </a:r>
            <a:r>
              <a:rPr lang="he-IL" sz="1200" dirty="0">
                <a:latin typeface="Monaco" pitchFamily="2" charset="77"/>
              </a:rPr>
              <a:t>, מקבללת את הפרמרטים הבאים:</a:t>
            </a:r>
          </a:p>
          <a:p>
            <a:pPr marL="228600" indent="-228600">
              <a:buAutoNum type="arabicParenR"/>
            </a:pPr>
            <a:r>
              <a:rPr lang="he-IL" sz="1200" dirty="0">
                <a:latin typeface="Monaco" pitchFamily="2" charset="77"/>
              </a:rPr>
              <a:t>סוג הטיפוס עליו פועלים (במקרה זה, מערך של מספרים שלמים בגודל 10).</a:t>
            </a:r>
          </a:p>
          <a:p>
            <a:pPr marL="228600" indent="-228600">
              <a:buAutoNum type="arabicParenR"/>
            </a:pPr>
            <a:r>
              <a:rPr lang="he-IL" sz="1200" dirty="0">
                <a:latin typeface="Monaco" pitchFamily="2" charset="77"/>
              </a:rPr>
              <a:t>מצביע ל"מערך" מסוג הטיפוס (מבחינת הפונקציה, הכתובת שנתנו לה, מכילה מערך של הטיפוסים הנ"ל, למשל מערך של מערכים או מערך של </a:t>
            </a:r>
            <a:r>
              <a:rPr lang="en-US" sz="1200" dirty="0">
                <a:latin typeface="Monaco" pitchFamily="2" charset="77"/>
              </a:rPr>
              <a:t>struct</a:t>
            </a:r>
            <a:r>
              <a:rPr lang="he-IL" sz="1200" dirty="0">
                <a:latin typeface="Monaco" pitchFamily="2" charset="77"/>
              </a:rPr>
              <a:t>).</a:t>
            </a:r>
          </a:p>
          <a:p>
            <a:pPr marL="228600" indent="-228600">
              <a:buAutoNum type="arabicParenR"/>
            </a:pPr>
            <a:r>
              <a:rPr lang="he-IL" sz="1200" dirty="0">
                <a:latin typeface="Monaco" pitchFamily="2" charset="77"/>
              </a:rPr>
              <a:t>שאר האגרומנטים הם סדרה של אינדקסים. במקה שלנו, אנו מעוניינים במערך הראשון (והיחיד) שנמצא במצביע </a:t>
            </a:r>
            <a:r>
              <a:rPr lang="en-US" sz="1200" dirty="0" err="1">
                <a:latin typeface="Monaco" pitchFamily="2" charset="77"/>
              </a:rPr>
              <a:t>MyArr</a:t>
            </a:r>
            <a:r>
              <a:rPr lang="he-IL" sz="1200" dirty="0">
                <a:latin typeface="Monaco" pitchFamily="2" charset="77"/>
              </a:rPr>
              <a:t>. לכן, האינדקס הראשון הוא 0. האינדקס הבא מתייחס לתוך המערך עצמו, כלומר לאיבר ה 9</a:t>
            </a:r>
            <a:r>
              <a:rPr lang="en-US" sz="1200" dirty="0">
                <a:latin typeface="Monaco" pitchFamily="2" charset="77"/>
              </a:rPr>
              <a:t> </a:t>
            </a:r>
            <a:r>
              <a:rPr lang="he-IL" sz="1200" dirty="0">
                <a:latin typeface="Monaco" pitchFamily="2" charset="77"/>
              </a:rPr>
              <a:t> במערך.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29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64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62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Ult- unsigned less than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9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הראשון דוגמה לאחד לא מותנה</a:t>
            </a:r>
          </a:p>
          <a:p>
            <a:r>
              <a:rPr lang="he-IL" dirty="0"/>
              <a:t>השני דוגמה לאחד מותנה- אם מתקיים תקפוץ לראשון ואחרת לשני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69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למה צריך את השיטה השנייה? נושאים מתקדמים כמו </a:t>
            </a:r>
            <a:r>
              <a:rPr lang="en-US" dirty="0"/>
              <a:t>function pointers</a:t>
            </a:r>
            <a:r>
              <a:rPr lang="he-IL" dirty="0"/>
              <a:t>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64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חשוב לדעת על שימוש ב </a:t>
            </a:r>
            <a:r>
              <a:rPr lang="en-US" dirty="0"/>
              <a:t>phi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1. חייבות להופיע בתחילת הבלוק (כלומר אסור בדוגמה לבצע פעולות שאינן </a:t>
            </a:r>
            <a:r>
              <a:rPr lang="en-US" dirty="0"/>
              <a:t>phi</a:t>
            </a:r>
            <a:r>
              <a:rPr lang="he-IL" dirty="0"/>
              <a:t> מתחילת ה </a:t>
            </a:r>
            <a:r>
              <a:rPr lang="en-US" dirty="0"/>
              <a:t>exit</a:t>
            </a:r>
            <a:r>
              <a:rPr lang="he-IL" dirty="0"/>
              <a:t> ועד ל</a:t>
            </a:r>
            <a:r>
              <a:rPr lang="en-US" dirty="0"/>
              <a:t>phi</a:t>
            </a:r>
            <a:r>
              <a:rPr lang="he-IL" dirty="0"/>
              <a:t> שלנו)</a:t>
            </a:r>
            <a:br>
              <a:rPr lang="en-US" dirty="0"/>
            </a:br>
            <a:r>
              <a:rPr lang="he-IL" dirty="0"/>
              <a:t>2. ייבחר הצמד לפי הבלוק שישר לפני בוצע (כלומר אם היינו עוברים בכמה מהבלוקים שברשימה, ניקח את האחרון שבדיוק הגענו ממנו)</a:t>
            </a:r>
          </a:p>
          <a:p>
            <a:r>
              <a:rPr lang="he-IL" dirty="0"/>
              <a:t>3. אפשר לתת רשימה של זוגות כאלה.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45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3C78-201E-AA00-B9F3-77C57DBD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79AA4-2383-8E31-0A16-B5DF8C8CD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03CB4-C0E4-B2C0-AEBC-F101D8E1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חשוב לדעת על שימוש ב </a:t>
            </a:r>
            <a:r>
              <a:rPr lang="en-US" dirty="0"/>
              <a:t>phi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1. חייבות להופיע בתחילת הבלוק (כלומר אסור בדוגמה לבצע פעולות שאינן </a:t>
            </a:r>
            <a:r>
              <a:rPr lang="en-US" dirty="0"/>
              <a:t>phi</a:t>
            </a:r>
            <a:r>
              <a:rPr lang="he-IL" dirty="0"/>
              <a:t> מתחילת ה </a:t>
            </a:r>
            <a:r>
              <a:rPr lang="en-US" dirty="0"/>
              <a:t>exit</a:t>
            </a:r>
            <a:r>
              <a:rPr lang="he-IL" dirty="0"/>
              <a:t> ועד ל</a:t>
            </a:r>
            <a:r>
              <a:rPr lang="en-US" dirty="0"/>
              <a:t>phi</a:t>
            </a:r>
            <a:r>
              <a:rPr lang="he-IL" dirty="0"/>
              <a:t> שלנו)</a:t>
            </a:r>
            <a:br>
              <a:rPr lang="en-US" dirty="0"/>
            </a:br>
            <a:r>
              <a:rPr lang="he-IL" dirty="0"/>
              <a:t>2. ייבחר הצמד לפי הבלוק שישר לפני בוצע (כלומר אם היינו עוברים בכמה מהבלוקים שברשימה, ניקח את האחרון שבדיוק הגענו ממנו)</a:t>
            </a:r>
          </a:p>
          <a:p>
            <a:r>
              <a:rPr lang="he-IL" dirty="0"/>
              <a:t>3. אפשר לתת רשימה של זוגות כאלה.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67AAE-5DB8-41A6-76FC-33891DF74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356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כדי להתייחס לארגומנטים בתוך הפונקציה אנחנו נרשום %0, %1, %2 וכן הלאה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061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 err="1">
                <a:effectLst/>
              </a:rPr>
              <a:t>sle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: signed less or equal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D4913-48CC-4790-B3FC-58F89F2E4B28}" type="slidenum">
              <a:rPr lang="he-IL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75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AD1D9-B8CC-461D-8AB0-C98F9B4B0E2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37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70CBE-F4FF-411F-80CE-830C5F1665F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BED58-2633-41A8-BF3A-822D25333F13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6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0FB17-97E2-471C-8BF9-8A21C593BBB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96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125F6-B96F-4C52-9F00-B9214144026A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3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46A7D-0647-41BA-BD28-2ABFE8B1062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3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BA367-F4A7-43CD-A541-93F3D32D351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7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001B8-7957-4586-9FD7-45304EFB593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7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43099-6FC1-4E7D-AC9D-341735909C8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8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97AB2-9A7A-4BA1-BE9E-C0D4CD364C65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53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E2962-ABEC-4A78-87AA-9070EBDA2E0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20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A718C-B665-4F2F-8D1E-1C5925177225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10999-C751-4F52-8CC7-2187BA68C15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09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3E0539-19BD-4590-9812-8AF77E606903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A1B6C-F258-4E96-872A-C9884C64DF2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35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3505A6-C8AF-4D87-8374-7D5FADFC11D2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4556E-4BE9-47F3-8D9F-8A74F512C1A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32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663B7-0670-459B-A8BB-386C4391DE67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49702-9799-4483-807A-81285C65C9D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75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22327-C8A8-45BE-9846-88A8C3637F42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2DDA2-FAC6-4E86-8A68-126EC316D77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64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94D5C-B404-43D7-8803-9944D0FA256B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CE537-2E0C-4F79-B2EE-1D45AB6B68A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46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0BC98-121C-413F-844B-A65D3BD2913F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77CAA-57C8-4FDF-9851-89AACBC70B6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87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6AF37-D304-4554-A793-18F72C23F6DB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066205-CAE2-4A62-BF0D-EF94DA135AA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93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BF9EA6-E641-492A-8706-6A57B5479B7A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E3542-54E3-49C4-8320-81B798E06AC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73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1D87D-89DE-4FFD-B101-568912EBBEC7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B4E79-878A-459A-A227-DC5C14ABA9E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311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A3663-6455-47A7-97D9-E9F97AAEA05F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DB0EF-69CE-4AC3-8F49-F77540A4622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09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text styles</a:t>
            </a:r>
          </a:p>
          <a:p>
            <a:pPr lvl="1"/>
            <a:r>
              <a:rPr lang="en-US" altLang="he-IL"/>
              <a:t>Second level</a:t>
            </a:r>
          </a:p>
          <a:p>
            <a:pPr lvl="2"/>
            <a:r>
              <a:rPr lang="en-US" altLang="he-IL"/>
              <a:t>Third level</a:t>
            </a:r>
          </a:p>
          <a:p>
            <a:pPr lvl="3"/>
            <a:r>
              <a:rPr lang="en-US" altLang="he-IL"/>
              <a:t>Fourth level</a:t>
            </a:r>
          </a:p>
          <a:p>
            <a:pPr lvl="4"/>
            <a:r>
              <a:rPr lang="en-US" altLang="he-IL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4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1" eaLnBrk="1" hangingPunct="1">
              <a:defRPr sz="14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400"/>
            </a:lvl1pPr>
          </a:lstStyle>
          <a:p>
            <a:pPr>
              <a:defRPr/>
            </a:pPr>
            <a:fld id="{CD80A0F8-C47D-4179-A10B-CE599D999D5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3727026-7902-45F2-9CF3-865316D2A70A}" type="datetime1">
              <a:rPr lang="en-US"/>
              <a:pPr>
                <a:defRPr/>
              </a:pPr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C259921C-BA12-49F0-BF8B-3928356C7F3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6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lvm.org/docs/LangRef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44675"/>
            <a:ext cx="7772400" cy="2808461"/>
          </a:xfrm>
        </p:spPr>
        <p:txBody>
          <a:bodyPr/>
          <a:lstStyle/>
          <a:p>
            <a:pPr eaLnBrk="1" hangingPunct="1"/>
            <a:r>
              <a:rPr lang="en-US" altLang="he-IL" dirty="0"/>
              <a:t>LLVM IR-</a:t>
            </a:r>
            <a:br>
              <a:rPr lang="en-US" altLang="he-IL" dirty="0"/>
            </a:br>
            <a:r>
              <a:rPr lang="en-US" altLang="he-IL" dirty="0"/>
              <a:t>Low-Level Virtual Machine</a:t>
            </a:r>
            <a:br>
              <a:rPr lang="en-US" altLang="he-IL" dirty="0"/>
            </a:br>
            <a:r>
              <a:rPr lang="en-US" dirty="0"/>
              <a:t>Intermediate Representation</a:t>
            </a:r>
            <a:endParaRPr lang="en-US" altLang="he-IL" dirty="0"/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0" y="5445125"/>
            <a:ext cx="9144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endParaRPr lang="en-US" altLang="he-IL" sz="1800"/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974B6377-2BC5-49B4-B8AD-3364CB9AEA1C}" type="slidenum">
              <a:rPr lang="he-IL" altLang="he-IL" sz="1400" smtClean="0"/>
              <a:pPr algn="l">
                <a:spcBef>
                  <a:spcPct val="0"/>
                </a:spcBef>
                <a:buFontTx/>
                <a:buNone/>
              </a:pPr>
              <a:t>1</a:t>
            </a:fld>
            <a:endParaRPr lang="en-US" altLang="he-IL" sz="140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dirty="0"/>
              <a:t>תזכורת מהתרגולים הקודמים</a:t>
            </a:r>
            <a:endParaRPr lang="en-US" dirty="0"/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357313"/>
            <a:ext cx="8229600" cy="4525962"/>
          </a:xfrm>
        </p:spPr>
        <p:txBody>
          <a:bodyPr/>
          <a:lstStyle/>
          <a:p>
            <a:pPr algn="r" rtl="1" eaLnBrk="1" hangingPunct="1"/>
            <a:r>
              <a:rPr lang="he-IL" sz="2800"/>
              <a:t>מבנה סכמתי של קומפיילר</a:t>
            </a:r>
          </a:p>
          <a:p>
            <a:pPr algn="r" rtl="1" eaLnBrk="1" hangingPunct="1">
              <a:buFontTx/>
              <a:buNone/>
            </a:pPr>
            <a:endParaRPr lang="he-IL"/>
          </a:p>
          <a:p>
            <a:pPr algn="r" rtl="1" eaLnBrk="1" hangingPunct="1"/>
            <a:endParaRPr lang="he-IL"/>
          </a:p>
          <a:p>
            <a:pPr algn="r" rtl="1" eaLnBrk="1" hangingPunct="1"/>
            <a:endParaRPr lang="he-IL"/>
          </a:p>
          <a:p>
            <a:pPr lvl="2" algn="r" rtl="1" eaLnBrk="1" hangingPunct="1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901601" y="1928813"/>
            <a:ext cx="1654175" cy="15716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90" name="Slide Number Placeholder 1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713419-8FD9-4AB0-AED2-C9994DE21C4B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214438" y="2143125"/>
            <a:ext cx="6312743" cy="1092200"/>
            <a:chOff x="1214438" y="2143125"/>
            <a:chExt cx="6312743" cy="1092200"/>
          </a:xfrm>
        </p:grpSpPr>
        <p:sp>
          <p:nvSpPr>
            <p:cNvPr id="20" name="Rectangle 9"/>
            <p:cNvSpPr>
              <a:spLocks noChangeArrowheads="1"/>
            </p:cNvSpPr>
            <p:nvPr/>
          </p:nvSpPr>
          <p:spPr bwMode="auto">
            <a:xfrm>
              <a:off x="6470962" y="2143125"/>
              <a:ext cx="1056219" cy="10922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ניתוח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לקסיקלי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ectangle 10"/>
            <p:cNvSpPr>
              <a:spLocks noChangeArrowheads="1"/>
            </p:cNvSpPr>
            <p:nvPr/>
          </p:nvSpPr>
          <p:spPr bwMode="auto">
            <a:xfrm>
              <a:off x="4572000" y="2143125"/>
              <a:ext cx="1056219" cy="10922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ניתוח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תחבירי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11"/>
            <p:cNvSpPr>
              <a:spLocks noChangeArrowheads="1"/>
            </p:cNvSpPr>
            <p:nvPr/>
          </p:nvSpPr>
          <p:spPr bwMode="auto">
            <a:xfrm>
              <a:off x="2762318" y="2143125"/>
              <a:ext cx="1056219" cy="10922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ניתוח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rPr>
                <a:t>סמנטי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1214438" y="2143125"/>
              <a:ext cx="1056219" cy="10922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backend</a:t>
              </a:r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 flipH="1" flipV="1">
              <a:off x="5628219" y="2636912"/>
              <a:ext cx="842742" cy="30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5" name="Line 16"/>
            <p:cNvSpPr>
              <a:spLocks noChangeShapeType="1"/>
            </p:cNvSpPr>
            <p:nvPr/>
          </p:nvSpPr>
          <p:spPr bwMode="auto">
            <a:xfrm flipH="1">
              <a:off x="3816984" y="2639978"/>
              <a:ext cx="7550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6" name="Line 17"/>
            <p:cNvSpPr>
              <a:spLocks noChangeShapeType="1"/>
            </p:cNvSpPr>
            <p:nvPr/>
          </p:nvSpPr>
          <p:spPr bwMode="auto">
            <a:xfrm flipH="1">
              <a:off x="2269106" y="2639978"/>
              <a:ext cx="4916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F1A42D60-AFAF-4B5F-8A06-16D070213FB4}"/>
              </a:ext>
            </a:extLst>
          </p:cNvPr>
          <p:cNvSpPr/>
          <p:nvPr/>
        </p:nvSpPr>
        <p:spPr>
          <a:xfrm>
            <a:off x="1047798" y="4090543"/>
            <a:ext cx="1221308" cy="1092193"/>
          </a:xfrm>
          <a:prstGeom prst="wedgeRectCallout">
            <a:avLst>
              <a:gd name="adj1" fmla="val 4124"/>
              <a:gd name="adj2" fmla="val -101303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>
                <a:solidFill>
                  <a:prstClr val="black"/>
                </a:solidFill>
              </a:rPr>
              <a:t>You are here!</a:t>
            </a:r>
            <a:endParaRPr lang="en-US" dirty="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786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3598-563D-BC41-8E82-A878CD93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LLVM 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6B761-DFEC-3249-BFAD-92C3D6FD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r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en-US" dirty="0"/>
              <a:t>LLVM IR</a:t>
            </a:r>
            <a:r>
              <a:rPr lang="he-IL" dirty="0"/>
              <a:t> הינה שפת ביניים נפוצה הדומה לשפת </a:t>
            </a:r>
            <a:r>
              <a:rPr lang="en-US" dirty="0"/>
              <a:t>3AC</a:t>
            </a:r>
            <a:r>
              <a:rPr lang="he-IL" dirty="0"/>
              <a:t> (</a:t>
            </a:r>
            <a:r>
              <a:rPr lang="en-US" dirty="0"/>
              <a:t>3 address code</a:t>
            </a:r>
            <a:r>
              <a:rPr lang="he-IL" dirty="0"/>
              <a:t>).</a:t>
            </a:r>
          </a:p>
          <a:p>
            <a:pPr marL="342900" indent="-342900" algn="r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he-IL" dirty="0"/>
              <a:t>כל ערך בשפה הוא בעל טיפוס שצריך </a:t>
            </a:r>
            <a:r>
              <a:rPr lang="he-IL" dirty="0" err="1"/>
              <a:t>לציינו</a:t>
            </a:r>
            <a:r>
              <a:rPr lang="he-IL" dirty="0"/>
              <a:t>.</a:t>
            </a:r>
          </a:p>
          <a:p>
            <a:pPr marL="342900" indent="-342900" algn="r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he-IL" dirty="0"/>
              <a:t>אין הגבלה על מספר הרגיסטרים שבהם ניתן להשתמש.</a:t>
            </a:r>
          </a:p>
          <a:p>
            <a:pPr marL="342900" indent="-342900" algn="r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en-US" dirty="0"/>
              <a:t>Static Single Assignment (SSA)</a:t>
            </a:r>
            <a:r>
              <a:rPr lang="he-IL" dirty="0"/>
              <a:t> - לכל רגיסטר יש השמה יחידה.</a:t>
            </a:r>
          </a:p>
          <a:p>
            <a:pPr marL="342900" indent="-342900" algn="r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A6574-1E76-154C-861E-55AAF0D37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CCB0C-A719-7F76-36FC-B83487A16018}"/>
              </a:ext>
            </a:extLst>
          </p:cNvPr>
          <p:cNvSpPr txBox="1"/>
          <p:nvPr/>
        </p:nvSpPr>
        <p:spPr>
          <a:xfrm>
            <a:off x="1115616" y="5406678"/>
            <a:ext cx="6264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+mn-lt"/>
                <a:cs typeface="+mn-cs"/>
              </a:rPr>
              <a:t>%num = add i32 %</a:t>
            </a:r>
            <a:r>
              <a:rPr lang="en-US" sz="3200" dirty="0" err="1">
                <a:solidFill>
                  <a:srgbClr val="0070C0"/>
                </a:solidFill>
                <a:latin typeface="+mn-lt"/>
                <a:cs typeface="+mn-cs"/>
              </a:rPr>
              <a:t>inp</a:t>
            </a:r>
            <a:r>
              <a:rPr lang="en-US" sz="3200" dirty="0">
                <a:solidFill>
                  <a:srgbClr val="0070C0"/>
                </a:solidFill>
                <a:latin typeface="+mn-lt"/>
                <a:cs typeface="+mn-cs"/>
              </a:rPr>
              <a:t>, 48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749729-9F4E-2F73-E5D1-83587FCECA87}"/>
              </a:ext>
            </a:extLst>
          </p:cNvPr>
          <p:cNvSpPr txBox="1"/>
          <p:nvPr/>
        </p:nvSpPr>
        <p:spPr>
          <a:xfrm>
            <a:off x="1492427" y="6201283"/>
            <a:ext cx="82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8978E-F8E8-7888-FB0B-918CCA3E88BC}"/>
              </a:ext>
            </a:extLst>
          </p:cNvPr>
          <p:cNvSpPr txBox="1"/>
          <p:nvPr/>
        </p:nvSpPr>
        <p:spPr>
          <a:xfrm>
            <a:off x="2517869" y="6214030"/>
            <a:ext cx="104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03720-E51A-CFB4-8C53-1EEAE464CA59}"/>
              </a:ext>
            </a:extLst>
          </p:cNvPr>
          <p:cNvSpPr txBox="1"/>
          <p:nvPr/>
        </p:nvSpPr>
        <p:spPr>
          <a:xfrm>
            <a:off x="3635782" y="6214030"/>
            <a:ext cx="89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6EBDB-88A9-F87E-1451-F4D563A85BC0}"/>
              </a:ext>
            </a:extLst>
          </p:cNvPr>
          <p:cNvSpPr txBox="1"/>
          <p:nvPr/>
        </p:nvSpPr>
        <p:spPr>
          <a:xfrm>
            <a:off x="4680765" y="6217710"/>
            <a:ext cx="127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operands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76A07E-2BC0-D46D-192E-133FC19380CE}"/>
              </a:ext>
            </a:extLst>
          </p:cNvPr>
          <p:cNvCxnSpPr>
            <a:stCxn id="6" idx="0"/>
          </p:cNvCxnSpPr>
          <p:nvPr/>
        </p:nvCxnSpPr>
        <p:spPr>
          <a:xfrm flipV="1">
            <a:off x="1905521" y="5991453"/>
            <a:ext cx="0" cy="209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F7EDDA-532B-271D-FA8D-E7DA4CDBB288}"/>
              </a:ext>
            </a:extLst>
          </p:cNvPr>
          <p:cNvCxnSpPr>
            <a:cxnSpLocks/>
          </p:cNvCxnSpPr>
          <p:nvPr/>
        </p:nvCxnSpPr>
        <p:spPr>
          <a:xfrm flipV="1">
            <a:off x="3056138" y="5988862"/>
            <a:ext cx="0" cy="253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88AA71-2EE3-E970-6951-AA7F09EA129A}"/>
              </a:ext>
            </a:extLst>
          </p:cNvPr>
          <p:cNvCxnSpPr>
            <a:cxnSpLocks/>
          </p:cNvCxnSpPr>
          <p:nvPr/>
        </p:nvCxnSpPr>
        <p:spPr>
          <a:xfrm flipV="1">
            <a:off x="3923928" y="5999277"/>
            <a:ext cx="0" cy="253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FB8890-CFF7-0D70-28C4-0E1A0AB4345D}"/>
              </a:ext>
            </a:extLst>
          </p:cNvPr>
          <p:cNvCxnSpPr>
            <a:cxnSpLocks/>
          </p:cNvCxnSpPr>
          <p:nvPr/>
        </p:nvCxnSpPr>
        <p:spPr>
          <a:xfrm flipH="1" flipV="1">
            <a:off x="4866875" y="5957805"/>
            <a:ext cx="279229" cy="243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D2CC6C-C5D4-33E8-ED1E-FF44B9E1FF1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5315889" y="5949592"/>
            <a:ext cx="186110" cy="268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379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3598-563D-BC41-8E82-A878CD93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LLVM 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6B761-DFEC-3249-BFAD-92C3D6FD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r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he-IL" dirty="0"/>
              <a:t>נתמקד רק בחלק מאוד קטן מהשפה.</a:t>
            </a:r>
          </a:p>
          <a:p>
            <a:r>
              <a:rPr lang="he-IL" dirty="0"/>
              <a:t>המדריך המלא נמצא כאן:</a:t>
            </a:r>
            <a:br>
              <a:rPr lang="en-US" dirty="0"/>
            </a:br>
            <a:r>
              <a:rPr lang="en-US" dirty="0">
                <a:hlinkClick r:id="rId2"/>
              </a:rPr>
              <a:t>https://llvm.org/docs/LangRef.html</a:t>
            </a:r>
            <a:endParaRPr lang="he-IL" dirty="0"/>
          </a:p>
          <a:p>
            <a:pPr marL="342900" indent="-342900" algn="r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A6574-1E76-154C-861E-55AAF0D37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7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טיפוסים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he-IL" dirty="0"/>
              <a:t>שלמים:</a:t>
            </a:r>
            <a:br>
              <a:rPr lang="en-US" dirty="0"/>
            </a:br>
            <a:r>
              <a:rPr lang="he-IL" dirty="0"/>
              <a:t>יכול להיות בעל כל מספר ביטים.</a:t>
            </a:r>
            <a:br>
              <a:rPr lang="en-US" dirty="0"/>
            </a:br>
            <a:r>
              <a:rPr lang="he-IL" dirty="0"/>
              <a:t>לדוגמא: </a:t>
            </a:r>
            <a:r>
              <a:rPr lang="en-US" dirty="0"/>
              <a:t>i1, i8, i32, i64</a:t>
            </a:r>
            <a:endParaRPr lang="he-IL" dirty="0">
              <a:latin typeface="Monaco" pitchFamily="2" charset="77"/>
            </a:endParaRPr>
          </a:p>
          <a:p>
            <a:pPr algn="r"/>
            <a:r>
              <a:rPr lang="en-US" dirty="0"/>
              <a:t>label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כתובת של קוד.</a:t>
            </a:r>
          </a:p>
          <a:p>
            <a:pPr marL="0" indent="0">
              <a:buNone/>
            </a:pPr>
            <a:r>
              <a:rPr lang="he-IL" dirty="0"/>
              <a:t>אוסף (</a:t>
            </a:r>
            <a:r>
              <a:rPr lang="en-US" dirty="0"/>
              <a:t>Aggregate</a:t>
            </a:r>
            <a:r>
              <a:rPr lang="he-IL" dirty="0"/>
              <a:t>):</a:t>
            </a:r>
          </a:p>
          <a:p>
            <a:r>
              <a:rPr lang="he-IL" dirty="0"/>
              <a:t>מערכים:</a:t>
            </a:r>
            <a:br>
              <a:rPr lang="en-US" dirty="0"/>
            </a:br>
            <a:r>
              <a:rPr lang="he-IL" dirty="0"/>
              <a:t>בעל </a:t>
            </a:r>
            <a:r>
              <a:rPr lang="he-IL" dirty="0" err="1"/>
              <a:t>מימד</a:t>
            </a:r>
            <a:r>
              <a:rPr lang="he-IL" dirty="0"/>
              <a:t> וטיפוס בסיסי קבוע.</a:t>
            </a:r>
            <a:br>
              <a:rPr lang="en-US" dirty="0"/>
            </a:br>
            <a:r>
              <a:rPr lang="he-IL" dirty="0"/>
              <a:t>לדוגמא: </a:t>
            </a:r>
            <a:r>
              <a:rPr lang="en-US" dirty="0"/>
              <a:t>[4 x i8], [10 x i32]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27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טיפוסים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he-IL" dirty="0"/>
              <a:t>מצביע:</a:t>
            </a:r>
            <a:br>
              <a:rPr lang="en-US" dirty="0"/>
            </a:br>
            <a:r>
              <a:rPr lang="he-IL" dirty="0"/>
              <a:t>יכול להיות לכל טיפוס.</a:t>
            </a:r>
            <a:br>
              <a:rPr lang="en-US" dirty="0"/>
            </a:br>
            <a:r>
              <a:rPr lang="he-IL" dirty="0"/>
              <a:t>לדוגמא: </a:t>
            </a:r>
            <a:r>
              <a:rPr lang="en-US" dirty="0"/>
              <a:t>i8*, [4 x i32]*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432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dirty="0"/>
              <a:t>add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מבצעת חיבור בין האופרנדים השלמים (</a:t>
            </a:r>
            <a:r>
              <a:rPr lang="en-US" dirty="0"/>
              <a:t>signed</a:t>
            </a:r>
            <a:r>
              <a:rPr lang="he-IL" dirty="0"/>
              <a:t> או </a:t>
            </a:r>
            <a:r>
              <a:rPr lang="en-US" dirty="0"/>
              <a:t>unsigned</a:t>
            </a:r>
            <a:r>
              <a:rPr lang="he-IL" dirty="0"/>
              <a:t>).</a:t>
            </a:r>
            <a:br>
              <a:rPr lang="en-US" dirty="0"/>
            </a:br>
            <a:r>
              <a:rPr lang="he-IL" dirty="0"/>
              <a:t>לדוגמא:</a:t>
            </a:r>
          </a:p>
          <a:p>
            <a:pPr marL="0" indent="0" algn="l" rtl="0">
              <a:buNone/>
            </a:pPr>
            <a:r>
              <a:rPr lang="en-US" dirty="0">
                <a:latin typeface="Monaco" pitchFamily="2" charset="77"/>
              </a:rPr>
              <a:t>  %var1 = add i32 4, %var0</a:t>
            </a:r>
            <a:endParaRPr lang="he-IL" dirty="0">
              <a:latin typeface="Monaco" pitchFamily="2" charset="77"/>
            </a:endParaRPr>
          </a:p>
          <a:p>
            <a:pPr algn="r"/>
            <a:r>
              <a:rPr lang="en-US" dirty="0"/>
              <a:t>sub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מבצעת חיסור בין האופרנדים השלמים.</a:t>
            </a:r>
            <a:br>
              <a:rPr lang="en-US" dirty="0"/>
            </a:br>
            <a:r>
              <a:rPr lang="he-IL" dirty="0"/>
              <a:t>לדוגמא:</a:t>
            </a:r>
          </a:p>
          <a:p>
            <a:pPr marL="0" indent="0" algn="l" rtl="0">
              <a:buNone/>
            </a:pPr>
            <a:r>
              <a:rPr lang="en-US" dirty="0">
                <a:latin typeface="Monaco" pitchFamily="2" charset="77"/>
              </a:rPr>
              <a:t>  %var1 = sub i32 4, %var0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209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dirty="0" err="1"/>
              <a:t>mul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מבצעת כפל בין שלמים.</a:t>
            </a:r>
            <a:br>
              <a:rPr lang="en-US" dirty="0"/>
            </a:br>
            <a:r>
              <a:rPr lang="he-IL" dirty="0"/>
              <a:t>לדוגמא:</a:t>
            </a:r>
          </a:p>
          <a:p>
            <a:pPr marL="0" indent="0" algn="l" rtl="0">
              <a:buNone/>
            </a:pPr>
            <a:r>
              <a:rPr lang="en-US" dirty="0">
                <a:latin typeface="Monaco" pitchFamily="2" charset="77"/>
              </a:rPr>
              <a:t>  %var1 = </a:t>
            </a:r>
            <a:r>
              <a:rPr lang="en-US" dirty="0" err="1">
                <a:latin typeface="Monaco" pitchFamily="2" charset="77"/>
              </a:rPr>
              <a:t>mul</a:t>
            </a:r>
            <a:r>
              <a:rPr lang="en-US" dirty="0">
                <a:latin typeface="Monaco" pitchFamily="2" charset="77"/>
              </a:rPr>
              <a:t> i32 4, %var0</a:t>
            </a:r>
            <a:endParaRPr lang="he-IL" dirty="0">
              <a:latin typeface="Monaco" pitchFamily="2" charset="77"/>
            </a:endParaRPr>
          </a:p>
          <a:p>
            <a:pPr algn="r"/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481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dirty="0" err="1"/>
              <a:t>udiv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מבצעת חילוק בין האופרנדים השלמים (</a:t>
            </a:r>
            <a:r>
              <a:rPr lang="en-US" dirty="0"/>
              <a:t>unsigned</a:t>
            </a:r>
            <a:r>
              <a:rPr lang="he-IL" dirty="0"/>
              <a:t>).</a:t>
            </a:r>
          </a:p>
          <a:p>
            <a:pPr marL="0" indent="0" algn="l" rtl="0">
              <a:buNone/>
            </a:pPr>
            <a:r>
              <a:rPr lang="en-US" dirty="0">
                <a:latin typeface="Monaco" pitchFamily="2" charset="77"/>
              </a:rPr>
              <a:t>  %var1 = </a:t>
            </a:r>
            <a:r>
              <a:rPr lang="en-US" dirty="0" err="1">
                <a:latin typeface="Monaco" pitchFamily="2" charset="77"/>
              </a:rPr>
              <a:t>udiv</a:t>
            </a:r>
            <a:r>
              <a:rPr lang="en-US" dirty="0">
                <a:latin typeface="Monaco" pitchFamily="2" charset="77"/>
              </a:rPr>
              <a:t> i32 4, %var0 </a:t>
            </a:r>
          </a:p>
          <a:p>
            <a:r>
              <a:rPr lang="en-US" dirty="0" err="1"/>
              <a:t>sdiv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מבצעת חילוק בין האופרנדים השלמים (</a:t>
            </a:r>
            <a:r>
              <a:rPr lang="en-US" dirty="0"/>
              <a:t>signed</a:t>
            </a:r>
            <a:r>
              <a:rPr lang="he-IL" dirty="0"/>
              <a:t>).</a:t>
            </a:r>
          </a:p>
          <a:p>
            <a:pPr marL="0" indent="0" algn="l" rtl="0">
              <a:buNone/>
            </a:pPr>
            <a:r>
              <a:rPr lang="en-US" dirty="0">
                <a:latin typeface="Monaco" pitchFamily="2" charset="77"/>
              </a:rPr>
              <a:t>  %var1 = </a:t>
            </a:r>
            <a:r>
              <a:rPr lang="en-US" dirty="0" err="1">
                <a:latin typeface="Monaco" pitchFamily="2" charset="77"/>
              </a:rPr>
              <a:t>sdiv</a:t>
            </a:r>
            <a:r>
              <a:rPr lang="en-US" dirty="0">
                <a:latin typeface="Monaco" pitchFamily="2" charset="77"/>
              </a:rPr>
              <a:t> i32 4, %var0</a:t>
            </a:r>
            <a:br>
              <a:rPr lang="en-US" dirty="0">
                <a:latin typeface="Monaco" pitchFamily="2" charset="77"/>
              </a:rPr>
            </a:br>
            <a:r>
              <a:rPr lang="en-US" dirty="0">
                <a:latin typeface="Monaco" pitchFamily="2" charset="77"/>
              </a:rPr>
              <a:t>  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899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dirty="0" err="1"/>
              <a:t>alloca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מקצה מקום על המחסנית ברשומת ההפעלה של הפונקציה הנוכחית, שמפונה אוטומטית בעת סיום הפונקציה. הפקודה מחזירה מצביע מהטיפוס המתאים</a:t>
            </a:r>
            <a:r>
              <a:rPr lang="en-US" dirty="0"/>
              <a:t>.</a:t>
            </a:r>
            <a:endParaRPr lang="he-IL" dirty="0"/>
          </a:p>
          <a:p>
            <a:r>
              <a:rPr lang="he-IL" dirty="0"/>
              <a:t>לדוגמא:</a:t>
            </a:r>
          </a:p>
          <a:p>
            <a:pPr marL="0" indent="0" algn="l" rtl="0">
              <a:buNone/>
            </a:pPr>
            <a:r>
              <a:rPr lang="en-US" sz="2400" dirty="0">
                <a:latin typeface="Monaco" pitchFamily="2" charset="77"/>
              </a:rPr>
              <a:t>  %</a:t>
            </a:r>
            <a:r>
              <a:rPr lang="en-US" sz="2400" dirty="0" err="1">
                <a:latin typeface="Monaco" pitchFamily="2" charset="77"/>
              </a:rPr>
              <a:t>ptr</a:t>
            </a:r>
            <a:r>
              <a:rPr lang="en-US" sz="2400" dirty="0">
                <a:latin typeface="Monaco" pitchFamily="2" charset="77"/>
              </a:rPr>
              <a:t> = </a:t>
            </a:r>
            <a:r>
              <a:rPr lang="en-US" sz="2400" dirty="0" err="1">
                <a:latin typeface="Monaco" pitchFamily="2" charset="77"/>
              </a:rPr>
              <a:t>alloca</a:t>
            </a:r>
            <a:r>
              <a:rPr lang="en-US" sz="2400" dirty="0">
                <a:latin typeface="Monaco" pitchFamily="2" charset="77"/>
              </a:rPr>
              <a:t> i32</a:t>
            </a:r>
            <a:br>
              <a:rPr lang="en-US" sz="2400" dirty="0">
                <a:latin typeface="Monaco" pitchFamily="2" charset="77"/>
              </a:rPr>
            </a:br>
            <a:r>
              <a:rPr lang="en-US" sz="2400" dirty="0">
                <a:latin typeface="Monaco" pitchFamily="2" charset="77"/>
              </a:rPr>
              <a:t>  %</a:t>
            </a:r>
            <a:r>
              <a:rPr lang="en-US" sz="2400" dirty="0" err="1">
                <a:latin typeface="Monaco" pitchFamily="2" charset="77"/>
              </a:rPr>
              <a:t>ptr</a:t>
            </a:r>
            <a:r>
              <a:rPr lang="en-US" sz="2400" dirty="0">
                <a:latin typeface="Monaco" pitchFamily="2" charset="77"/>
              </a:rPr>
              <a:t> = </a:t>
            </a:r>
            <a:r>
              <a:rPr lang="en-US" sz="2400" dirty="0" err="1">
                <a:latin typeface="Monaco" pitchFamily="2" charset="77"/>
              </a:rPr>
              <a:t>alloca</a:t>
            </a:r>
            <a:r>
              <a:rPr lang="en-US" sz="2400" dirty="0">
                <a:latin typeface="Monaco" pitchFamily="2" charset="77"/>
              </a:rPr>
              <a:t> i32, i32 4</a:t>
            </a:r>
            <a:br>
              <a:rPr lang="en-US" dirty="0">
                <a:latin typeface="Monaco" pitchFamily="2" charset="77"/>
              </a:rPr>
            </a:br>
            <a:r>
              <a:rPr lang="en-US" dirty="0">
                <a:latin typeface="Monaco" pitchFamily="2" charset="77"/>
              </a:rPr>
              <a:t>  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280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dirty="0" err="1"/>
              <a:t>getelementptr</a:t>
            </a:r>
            <a:r>
              <a:rPr lang="he-IL" dirty="0"/>
              <a:t>:</a:t>
            </a:r>
            <a:br>
              <a:rPr lang="en-US" dirty="0"/>
            </a:br>
            <a:r>
              <a:rPr lang="he-IL" sz="2800" dirty="0"/>
              <a:t>מחשבת כתובת של אלמנט מתוך </a:t>
            </a:r>
            <a:r>
              <a:rPr lang="he-IL" sz="2800" u="sng" dirty="0"/>
              <a:t>מצביע</a:t>
            </a:r>
            <a:r>
              <a:rPr lang="he-IL" sz="2800" dirty="0"/>
              <a:t> למשתנה שהוא מטיפוס שהוא אוסף (</a:t>
            </a:r>
            <a:r>
              <a:rPr lang="en-US" sz="2800" dirty="0"/>
              <a:t>aggregate type</a:t>
            </a:r>
            <a:r>
              <a:rPr lang="he-IL" sz="2800" dirty="0"/>
              <a:t>). הפקודה מחזירה מצביע לאלמנט מהטיפוס המתאים</a:t>
            </a:r>
            <a:r>
              <a:rPr lang="en-US" sz="2800" dirty="0"/>
              <a:t>.</a:t>
            </a:r>
            <a:endParaRPr lang="he-IL" sz="2800" dirty="0"/>
          </a:p>
          <a:p>
            <a:r>
              <a:rPr lang="he-IL" dirty="0"/>
              <a:t>לדוגמא:</a:t>
            </a:r>
          </a:p>
          <a:p>
            <a:pPr marL="0" indent="0" algn="l" rtl="0">
              <a:buNone/>
            </a:pPr>
            <a:r>
              <a:rPr lang="en-US" sz="2400" dirty="0">
                <a:latin typeface="Monaco" pitchFamily="2" charset="77"/>
              </a:rPr>
              <a:t>%</a:t>
            </a:r>
            <a:r>
              <a:rPr lang="en-US" sz="2400" dirty="0" err="1">
                <a:latin typeface="Monaco" pitchFamily="2" charset="77"/>
              </a:rPr>
              <a:t>MyArr</a:t>
            </a:r>
            <a:r>
              <a:rPr lang="en-US" sz="2400" dirty="0">
                <a:latin typeface="Monaco" pitchFamily="2" charset="77"/>
              </a:rPr>
              <a:t> = </a:t>
            </a:r>
            <a:r>
              <a:rPr lang="en-US" sz="2400" dirty="0" err="1">
                <a:latin typeface="Monaco" pitchFamily="2" charset="77"/>
              </a:rPr>
              <a:t>alloca</a:t>
            </a:r>
            <a:r>
              <a:rPr lang="en-US" sz="2400" dirty="0">
                <a:latin typeface="Monaco" pitchFamily="2" charset="77"/>
              </a:rPr>
              <a:t> [10 x i32]</a:t>
            </a:r>
            <a:br>
              <a:rPr lang="en-US" sz="2400" dirty="0">
                <a:latin typeface="Monaco" pitchFamily="2" charset="77"/>
              </a:rPr>
            </a:br>
            <a:r>
              <a:rPr lang="en-US" sz="2400" dirty="0">
                <a:latin typeface="Monaco" pitchFamily="2" charset="77"/>
              </a:rPr>
              <a:t>%first = </a:t>
            </a:r>
            <a:r>
              <a:rPr lang="en-US" sz="2400" dirty="0" err="1">
                <a:latin typeface="Monaco" pitchFamily="2" charset="77"/>
              </a:rPr>
              <a:t>getelementptr</a:t>
            </a:r>
            <a:r>
              <a:rPr lang="en-US" sz="2400" dirty="0">
                <a:latin typeface="Monaco" pitchFamily="2" charset="77"/>
              </a:rPr>
              <a:t> [10 x i32],</a:t>
            </a:r>
            <a:br>
              <a:rPr lang="en-US" sz="2400" dirty="0">
                <a:latin typeface="Monaco" pitchFamily="2" charset="77"/>
              </a:rPr>
            </a:br>
            <a:r>
              <a:rPr lang="en-US" sz="2400" dirty="0">
                <a:latin typeface="Monaco" pitchFamily="2" charset="77"/>
              </a:rPr>
              <a:t>           [10 x i32]* %</a:t>
            </a:r>
            <a:r>
              <a:rPr lang="en-US" sz="2400" dirty="0" err="1">
                <a:latin typeface="Monaco" pitchFamily="2" charset="77"/>
              </a:rPr>
              <a:t>MyArr</a:t>
            </a:r>
            <a:r>
              <a:rPr lang="en-US" sz="2400" dirty="0">
                <a:latin typeface="Monaco" pitchFamily="2" charset="77"/>
              </a:rPr>
              <a:t>, i32 0, i32 0</a:t>
            </a:r>
            <a:br>
              <a:rPr lang="en-US" sz="2400" dirty="0">
                <a:latin typeface="Monaco" pitchFamily="2" charset="77"/>
              </a:rPr>
            </a:br>
            <a:r>
              <a:rPr lang="en-US" sz="2400" dirty="0">
                <a:latin typeface="Monaco" pitchFamily="2" charset="77"/>
              </a:rPr>
              <a:t>  </a:t>
            </a:r>
            <a:r>
              <a:rPr lang="he-IL" sz="2400" dirty="0">
                <a:latin typeface="Monaco" pitchFamily="2" charset="77"/>
              </a:rPr>
              <a:t>	</a:t>
            </a:r>
          </a:p>
          <a:p>
            <a:pPr marL="0" indent="0" algn="l" rtl="0">
              <a:buNone/>
            </a:pPr>
            <a:r>
              <a:rPr lang="en-US" sz="2400" dirty="0">
                <a:latin typeface="Monaco" pitchFamily="2" charset="77"/>
              </a:rPr>
              <a:t>%last = </a:t>
            </a:r>
            <a:r>
              <a:rPr lang="en-US" sz="2400" dirty="0" err="1">
                <a:latin typeface="Monaco" pitchFamily="2" charset="77"/>
              </a:rPr>
              <a:t>getelementptr</a:t>
            </a:r>
            <a:r>
              <a:rPr lang="en-US" sz="2400" dirty="0">
                <a:latin typeface="Monaco" pitchFamily="2" charset="77"/>
              </a:rPr>
              <a:t> [10 x i32],</a:t>
            </a:r>
            <a:br>
              <a:rPr lang="en-US" sz="2400" dirty="0">
                <a:latin typeface="Monaco" pitchFamily="2" charset="77"/>
              </a:rPr>
            </a:br>
            <a:r>
              <a:rPr lang="en-US" sz="2400" dirty="0">
                <a:latin typeface="Monaco" pitchFamily="2" charset="77"/>
              </a:rPr>
              <a:t>          </a:t>
            </a:r>
            <a:r>
              <a:rPr lang="he-IL" sz="2400" dirty="0">
                <a:latin typeface="Monaco" pitchFamily="2" charset="77"/>
              </a:rPr>
              <a:t>	</a:t>
            </a:r>
            <a:r>
              <a:rPr lang="en-US" sz="2400" dirty="0">
                <a:latin typeface="Monaco" pitchFamily="2" charset="77"/>
              </a:rPr>
              <a:t>[10 x i32]* %</a:t>
            </a:r>
            <a:r>
              <a:rPr lang="en-US" sz="2400" dirty="0" err="1">
                <a:latin typeface="Monaco" pitchFamily="2" charset="77"/>
              </a:rPr>
              <a:t>MyArr</a:t>
            </a:r>
            <a:r>
              <a:rPr lang="en-US" sz="2400" dirty="0">
                <a:latin typeface="Monaco" pitchFamily="2" charset="77"/>
              </a:rPr>
              <a:t>, i32 0, i32 9</a:t>
            </a:r>
            <a:br>
              <a:rPr lang="en-US" dirty="0">
                <a:latin typeface="Monaco" pitchFamily="2" charset="77"/>
              </a:rPr>
            </a:br>
            <a:r>
              <a:rPr lang="en-US" dirty="0">
                <a:latin typeface="Monaco" pitchFamily="2" charset="77"/>
              </a:rPr>
              <a:t>  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26DC7904-3426-4212-8482-F97C3C8F6BF8}"/>
              </a:ext>
            </a:extLst>
          </p:cNvPr>
          <p:cNvSpPr/>
          <p:nvPr/>
        </p:nvSpPr>
        <p:spPr>
          <a:xfrm>
            <a:off x="4602254" y="3935073"/>
            <a:ext cx="2376264" cy="394632"/>
          </a:xfrm>
          <a:prstGeom prst="wedgeRectCallout">
            <a:avLst>
              <a:gd name="adj1" fmla="val -54752"/>
              <a:gd name="adj2" fmla="val 9125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הטיפוס עליו פועלים</a:t>
            </a:r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9599DD67-2FA7-4629-B02B-222AAA92791E}"/>
              </a:ext>
            </a:extLst>
          </p:cNvPr>
          <p:cNvSpPr/>
          <p:nvPr/>
        </p:nvSpPr>
        <p:spPr>
          <a:xfrm flipH="1">
            <a:off x="107504" y="5179851"/>
            <a:ext cx="1219046" cy="513948"/>
          </a:xfrm>
          <a:prstGeom prst="wedgeRectCallout">
            <a:avLst>
              <a:gd name="adj1" fmla="val -94378"/>
              <a:gd name="adj2" fmla="val -5357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טיפוס המצביע</a:t>
            </a:r>
            <a:endParaRPr lang="en-US" dirty="0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7FE2E0B0-113E-4F51-BD32-5B0C2DC0EF2A}"/>
              </a:ext>
            </a:extLst>
          </p:cNvPr>
          <p:cNvSpPr/>
          <p:nvPr/>
        </p:nvSpPr>
        <p:spPr>
          <a:xfrm>
            <a:off x="5277639" y="4512267"/>
            <a:ext cx="1800200" cy="394632"/>
          </a:xfrm>
          <a:prstGeom prst="wedgeRectCallout">
            <a:avLst>
              <a:gd name="adj1" fmla="val -151058"/>
              <a:gd name="adj2" fmla="val 3577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המצביע</a:t>
            </a:r>
            <a:endParaRPr lang="en-US" dirty="0"/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ED9AD486-B882-424F-B3F3-64BABC70E47D}"/>
              </a:ext>
            </a:extLst>
          </p:cNvPr>
          <p:cNvSpPr/>
          <p:nvPr/>
        </p:nvSpPr>
        <p:spPr>
          <a:xfrm>
            <a:off x="3563888" y="6245225"/>
            <a:ext cx="1800200" cy="535453"/>
          </a:xfrm>
          <a:prstGeom prst="wedgeRectCallout">
            <a:avLst>
              <a:gd name="adj1" fmla="val -25815"/>
              <a:gd name="adj2" fmla="val -253803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האינדקס של המערך</a:t>
            </a:r>
            <a:endParaRPr lang="en-US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68E26597-3D47-4981-99A2-3353EB617C43}"/>
              </a:ext>
            </a:extLst>
          </p:cNvPr>
          <p:cNvSpPr/>
          <p:nvPr/>
        </p:nvSpPr>
        <p:spPr>
          <a:xfrm>
            <a:off x="4693849" y="5457930"/>
            <a:ext cx="1800200" cy="471738"/>
          </a:xfrm>
          <a:prstGeom prst="wedgeRectCallout">
            <a:avLst>
              <a:gd name="adj1" fmla="val -24235"/>
              <a:gd name="adj2" fmla="val -104463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האינדקס של איבר המטרה במערך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994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dirty="0"/>
              <a:t>store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כותבת ערך לזיכרון כאשר הכתובת היא מצביע לטיפוס הערך הנכתב.</a:t>
            </a:r>
            <a:endParaRPr lang="he-IL" dirty="0">
              <a:latin typeface="Monaco" pitchFamily="2" charset="77"/>
            </a:endParaRPr>
          </a:p>
          <a:p>
            <a:pPr algn="r"/>
            <a:r>
              <a:rPr lang="en-US" dirty="0"/>
              <a:t>load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טוענת ערך מהזיכרון</a:t>
            </a:r>
          </a:p>
          <a:p>
            <a:pPr algn="r"/>
            <a:r>
              <a:rPr lang="he-IL" dirty="0"/>
              <a:t>לדוגמא:</a:t>
            </a:r>
          </a:p>
          <a:p>
            <a:pPr marL="0" indent="0" algn="l" rtl="0">
              <a:buNone/>
            </a:pPr>
            <a:r>
              <a:rPr lang="en-US" sz="2000" dirty="0">
                <a:latin typeface="Monaco" pitchFamily="2" charset="77"/>
              </a:rPr>
              <a:t> %</a:t>
            </a:r>
            <a:r>
              <a:rPr lang="en-US" sz="2000" dirty="0" err="1">
                <a:latin typeface="Monaco" pitchFamily="2" charset="77"/>
              </a:rPr>
              <a:t>ptr</a:t>
            </a:r>
            <a:r>
              <a:rPr lang="en-US" sz="2000" dirty="0">
                <a:latin typeface="Monaco" pitchFamily="2" charset="77"/>
              </a:rPr>
              <a:t> = </a:t>
            </a:r>
            <a:r>
              <a:rPr lang="en-US" sz="2000" dirty="0" err="1">
                <a:latin typeface="Monaco" pitchFamily="2" charset="77"/>
              </a:rPr>
              <a:t>alloca</a:t>
            </a:r>
            <a:r>
              <a:rPr lang="en-US" sz="2000" dirty="0">
                <a:latin typeface="Monaco" pitchFamily="2" charset="77"/>
              </a:rPr>
              <a:t> i32</a:t>
            </a:r>
            <a:r>
              <a:rPr lang="he-IL" sz="2000" dirty="0">
                <a:latin typeface="Monaco" pitchFamily="2" charset="77"/>
              </a:rPr>
              <a:t>              </a:t>
            </a:r>
            <a:r>
              <a:rPr lang="en-US" sz="2000" dirty="0">
                <a:latin typeface="Monaco" pitchFamily="2" charset="77"/>
              </a:rPr>
              <a:t>; yields i32*:</a:t>
            </a:r>
            <a:r>
              <a:rPr lang="en-US" sz="2000" dirty="0" err="1">
                <a:latin typeface="Monaco" pitchFamily="2" charset="77"/>
              </a:rPr>
              <a:t>ptr</a:t>
            </a:r>
            <a:br>
              <a:rPr lang="en-US" sz="2000" dirty="0">
                <a:latin typeface="Monaco" pitchFamily="2" charset="77"/>
              </a:rPr>
            </a:br>
            <a:r>
              <a:rPr lang="en-US" sz="2000" dirty="0">
                <a:latin typeface="Monaco" pitchFamily="2" charset="77"/>
              </a:rPr>
              <a:t> store i32 3, i32* %</a:t>
            </a:r>
            <a:r>
              <a:rPr lang="en-US" sz="2000" dirty="0" err="1">
                <a:latin typeface="Monaco" pitchFamily="2" charset="77"/>
              </a:rPr>
              <a:t>ptr</a:t>
            </a:r>
            <a:r>
              <a:rPr lang="en-US" sz="2000" dirty="0">
                <a:latin typeface="Monaco" pitchFamily="2" charset="77"/>
              </a:rPr>
              <a:t>     </a:t>
            </a:r>
            <a:r>
              <a:rPr lang="he-IL" sz="2000" dirty="0">
                <a:latin typeface="Monaco" pitchFamily="2" charset="77"/>
              </a:rPr>
              <a:t>   </a:t>
            </a:r>
            <a:r>
              <a:rPr lang="en-US" sz="2000" dirty="0">
                <a:latin typeface="Monaco" pitchFamily="2" charset="77"/>
              </a:rPr>
              <a:t>; yields void</a:t>
            </a:r>
            <a:br>
              <a:rPr lang="en-US" sz="2000" dirty="0">
                <a:latin typeface="Monaco" pitchFamily="2" charset="77"/>
              </a:rPr>
            </a:br>
            <a:r>
              <a:rPr lang="en-US" sz="2000" dirty="0">
                <a:latin typeface="Monaco" pitchFamily="2" charset="77"/>
              </a:rPr>
              <a:t> %</a:t>
            </a:r>
            <a:r>
              <a:rPr lang="en-US" sz="2000" dirty="0" err="1">
                <a:latin typeface="Monaco" pitchFamily="2" charset="77"/>
              </a:rPr>
              <a:t>val</a:t>
            </a:r>
            <a:r>
              <a:rPr lang="en-US" sz="2000" dirty="0">
                <a:latin typeface="Monaco" pitchFamily="2" charset="77"/>
              </a:rPr>
              <a:t> = load i32, i32* %</a:t>
            </a:r>
            <a:r>
              <a:rPr lang="en-US" sz="2000" dirty="0" err="1">
                <a:latin typeface="Monaco" pitchFamily="2" charset="77"/>
              </a:rPr>
              <a:t>ptr</a:t>
            </a:r>
            <a:r>
              <a:rPr lang="en-US" sz="2000" dirty="0">
                <a:latin typeface="Monaco" pitchFamily="2" charset="77"/>
              </a:rPr>
              <a:t> ; yields i32:val = i32 3</a:t>
            </a:r>
            <a:br>
              <a:rPr lang="en-US" dirty="0">
                <a:latin typeface="Monaco" pitchFamily="2" charset="77"/>
              </a:rPr>
            </a:br>
            <a:r>
              <a:rPr lang="en-US" dirty="0">
                <a:latin typeface="Monaco" pitchFamily="2" charset="77"/>
              </a:rPr>
              <a:t>  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41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87E2-8DE5-58B3-B985-F31DEFEB9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Terminator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76A12-8843-20F5-9D0F-E31DA8D85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  <a:p>
            <a:r>
              <a:rPr lang="he-IL" dirty="0"/>
              <a:t>כל בלוק </a:t>
            </a:r>
            <a:r>
              <a:rPr lang="en-US" dirty="0"/>
              <a:t>LLVM</a:t>
            </a:r>
            <a:r>
              <a:rPr lang="he-IL" dirty="0"/>
              <a:t> חייב להתחיל עם </a:t>
            </a:r>
            <a:r>
              <a:rPr lang="en-US" dirty="0"/>
              <a:t>label</a:t>
            </a:r>
            <a:r>
              <a:rPr lang="he-IL" dirty="0"/>
              <a:t> ולהסתיים ב- </a:t>
            </a:r>
            <a:r>
              <a:rPr lang="en-US" dirty="0"/>
              <a:t>terminator instruction</a:t>
            </a:r>
            <a:r>
              <a:rPr lang="he-IL" dirty="0"/>
              <a:t>.</a:t>
            </a:r>
          </a:p>
          <a:p>
            <a:r>
              <a:rPr lang="en-US" dirty="0"/>
              <a:t>Terminator Instruction</a:t>
            </a:r>
            <a:r>
              <a:rPr lang="he-IL" dirty="0"/>
              <a:t> שאנחנו משתמשים בהם בקורס הם: </a:t>
            </a:r>
            <a:r>
              <a:rPr lang="en-US" dirty="0"/>
              <a:t>ret, </a:t>
            </a:r>
            <a:r>
              <a:rPr lang="en-US" dirty="0" err="1"/>
              <a:t>br</a:t>
            </a:r>
            <a:r>
              <a:rPr lang="he-IL" dirty="0"/>
              <a:t>. </a:t>
            </a:r>
          </a:p>
          <a:p>
            <a:r>
              <a:rPr lang="he-IL" dirty="0"/>
              <a:t>אחרי </a:t>
            </a:r>
            <a:r>
              <a:rPr lang="en-US" dirty="0"/>
              <a:t>terminator instruction</a:t>
            </a:r>
            <a:r>
              <a:rPr lang="he-IL" dirty="0"/>
              <a:t> חייב להתחיל בלוק חדש שנפתח ב</a:t>
            </a:r>
            <a:r>
              <a:rPr lang="en-US" dirty="0"/>
              <a:t>label</a:t>
            </a:r>
            <a:r>
              <a:rPr lang="he-IL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44744-195F-205A-A749-1FD3039D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282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dirty="0" err="1"/>
              <a:t>icmp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מבצעת השוואה בין האופרנדים לפי תנאי מסוים שהוא חלק מהפקודה ומחזירה ערך בוליאני (מטיפוס </a:t>
            </a:r>
            <a:r>
              <a:rPr lang="en-US" dirty="0"/>
              <a:t>i1</a:t>
            </a:r>
            <a:r>
              <a:rPr lang="he-IL" dirty="0"/>
              <a:t>) בהתאם לתוצאת ההשוואה.</a:t>
            </a:r>
          </a:p>
          <a:p>
            <a:pPr algn="r"/>
            <a:r>
              <a:rPr lang="he-IL" dirty="0"/>
              <a:t>לדוגמא:</a:t>
            </a:r>
          </a:p>
          <a:p>
            <a:pPr marL="0" indent="0" algn="l" rtl="0">
              <a:buNone/>
            </a:pPr>
            <a:r>
              <a:rPr lang="en-US" sz="2000" dirty="0">
                <a:latin typeface="Monaco" pitchFamily="2" charset="77"/>
              </a:rPr>
              <a:t> %var0 = </a:t>
            </a:r>
            <a:r>
              <a:rPr lang="en-US" sz="2000" dirty="0" err="1">
                <a:latin typeface="Monaco" pitchFamily="2" charset="77"/>
              </a:rPr>
              <a:t>icmp</a:t>
            </a:r>
            <a:r>
              <a:rPr lang="en-US" sz="2000" dirty="0">
                <a:latin typeface="Monaco" pitchFamily="2" charset="77"/>
              </a:rPr>
              <a:t> eq i32 4, 5  ; yields: result=false</a:t>
            </a:r>
            <a:br>
              <a:rPr lang="en-US" sz="2000" dirty="0">
                <a:latin typeface="Monaco" pitchFamily="2" charset="77"/>
              </a:rPr>
            </a:br>
            <a:r>
              <a:rPr lang="en-US" sz="2000" dirty="0">
                <a:latin typeface="Monaco" pitchFamily="2" charset="77"/>
              </a:rPr>
              <a:t> %var1 = </a:t>
            </a:r>
            <a:r>
              <a:rPr lang="en-US" sz="2000" dirty="0" err="1">
                <a:latin typeface="Monaco" pitchFamily="2" charset="77"/>
              </a:rPr>
              <a:t>icmp</a:t>
            </a:r>
            <a:r>
              <a:rPr lang="en-US" sz="2000" dirty="0">
                <a:latin typeface="Monaco" pitchFamily="2" charset="77"/>
              </a:rPr>
              <a:t> </a:t>
            </a:r>
            <a:r>
              <a:rPr lang="en-US" sz="2000" dirty="0" err="1">
                <a:latin typeface="Monaco" pitchFamily="2" charset="77"/>
              </a:rPr>
              <a:t>ult</a:t>
            </a:r>
            <a:r>
              <a:rPr lang="en-US" sz="2000" dirty="0">
                <a:latin typeface="Monaco" pitchFamily="2" charset="77"/>
              </a:rPr>
              <a:t> i16 4, 5 ; yields: result=true</a:t>
            </a:r>
            <a:br>
              <a:rPr lang="en-US" dirty="0">
                <a:latin typeface="Monaco" pitchFamily="2" charset="77"/>
              </a:rPr>
            </a:br>
            <a:r>
              <a:rPr lang="en-US" dirty="0">
                <a:latin typeface="Monaco" pitchFamily="2" charset="77"/>
              </a:rPr>
              <a:t>  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929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877272"/>
          </a:xfrm>
        </p:spPr>
        <p:txBody>
          <a:bodyPr/>
          <a:lstStyle/>
          <a:p>
            <a:r>
              <a:rPr lang="en-US" dirty="0" err="1"/>
              <a:t>br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מבצעת קפיצה לבלוק בסיסי אחר בתוך הפונקציה הנוכחית.</a:t>
            </a:r>
          </a:p>
          <a:p>
            <a:r>
              <a:rPr lang="he-IL" dirty="0"/>
              <a:t>ישנה פקודה לקפיצה מותנית ופקודה לקפיצה לא מותנית.</a:t>
            </a:r>
          </a:p>
          <a:p>
            <a:pPr algn="r"/>
            <a:r>
              <a:rPr lang="he-IL" dirty="0"/>
              <a:t>לדוגמא:</a:t>
            </a:r>
          </a:p>
          <a:p>
            <a:pPr marL="0" indent="0" algn="l" rtl="0">
              <a:buNone/>
            </a:pPr>
            <a:r>
              <a:rPr lang="en-US" sz="2000" dirty="0">
                <a:latin typeface="Monaco" pitchFamily="2" charset="77"/>
              </a:rPr>
              <a:t> </a:t>
            </a:r>
            <a:r>
              <a:rPr lang="en-US" sz="2000" dirty="0" err="1">
                <a:latin typeface="Monaco" pitchFamily="2" charset="77"/>
              </a:rPr>
              <a:t>br</a:t>
            </a:r>
            <a:r>
              <a:rPr lang="en-US" sz="2000" dirty="0">
                <a:latin typeface="Monaco" pitchFamily="2" charset="77"/>
              </a:rPr>
              <a:t> label %</a:t>
            </a:r>
            <a:r>
              <a:rPr lang="en-US" sz="2000" dirty="0" err="1">
                <a:latin typeface="Monaco" pitchFamily="2" charset="77"/>
              </a:rPr>
              <a:t>CondBr</a:t>
            </a:r>
            <a:r>
              <a:rPr lang="en-US" sz="2000" dirty="0">
                <a:latin typeface="Monaco" pitchFamily="2" charset="77"/>
              </a:rPr>
              <a:t>        ; Unconditional branch</a:t>
            </a:r>
            <a:br>
              <a:rPr lang="en-US" sz="2000" dirty="0">
                <a:latin typeface="Monaco" pitchFamily="2" charset="77"/>
              </a:rPr>
            </a:br>
            <a:r>
              <a:rPr lang="en-US" sz="2000" dirty="0">
                <a:latin typeface="Monaco" pitchFamily="2" charset="77"/>
              </a:rPr>
              <a:t> </a:t>
            </a:r>
            <a:r>
              <a:rPr lang="en-US" sz="2000" dirty="0" err="1">
                <a:latin typeface="Monaco" pitchFamily="2" charset="77"/>
              </a:rPr>
              <a:t>CondBr</a:t>
            </a:r>
            <a:r>
              <a:rPr lang="en-US" sz="2000" dirty="0">
                <a:latin typeface="Monaco" pitchFamily="2" charset="77"/>
              </a:rPr>
              <a:t>:</a:t>
            </a:r>
            <a:br>
              <a:rPr lang="en-US" sz="2000" dirty="0">
                <a:latin typeface="Monaco" pitchFamily="2" charset="77"/>
              </a:rPr>
            </a:br>
            <a:r>
              <a:rPr lang="en-US" sz="2000" dirty="0">
                <a:latin typeface="Monaco" pitchFamily="2" charset="77"/>
              </a:rPr>
              <a:t>   %</a:t>
            </a:r>
            <a:r>
              <a:rPr lang="en-US" sz="2000" dirty="0" err="1">
                <a:latin typeface="Monaco" pitchFamily="2" charset="77"/>
              </a:rPr>
              <a:t>cond</a:t>
            </a:r>
            <a:r>
              <a:rPr lang="en-US" sz="2000" dirty="0">
                <a:latin typeface="Monaco" pitchFamily="2" charset="77"/>
              </a:rPr>
              <a:t> = </a:t>
            </a:r>
            <a:r>
              <a:rPr lang="en-US" sz="2000" dirty="0" err="1">
                <a:latin typeface="Monaco" pitchFamily="2" charset="77"/>
              </a:rPr>
              <a:t>icmp</a:t>
            </a:r>
            <a:r>
              <a:rPr lang="en-US" sz="2000" dirty="0">
                <a:latin typeface="Monaco" pitchFamily="2" charset="77"/>
              </a:rPr>
              <a:t> eq i32 %a, %b</a:t>
            </a:r>
            <a:br>
              <a:rPr lang="en-US" sz="2000" dirty="0">
                <a:latin typeface="Monaco" pitchFamily="2" charset="77"/>
              </a:rPr>
            </a:br>
            <a:r>
              <a:rPr lang="en-US" sz="2000" dirty="0">
                <a:latin typeface="Monaco" pitchFamily="2" charset="77"/>
              </a:rPr>
              <a:t>   </a:t>
            </a:r>
            <a:r>
              <a:rPr lang="en-US" sz="2000" dirty="0" err="1">
                <a:latin typeface="Monaco" pitchFamily="2" charset="77"/>
              </a:rPr>
              <a:t>br</a:t>
            </a:r>
            <a:r>
              <a:rPr lang="en-US" sz="2000" dirty="0">
                <a:latin typeface="Monaco" pitchFamily="2" charset="77"/>
              </a:rPr>
              <a:t> i1 %</a:t>
            </a:r>
            <a:r>
              <a:rPr lang="en-US" sz="2000" dirty="0" err="1">
                <a:latin typeface="Monaco" pitchFamily="2" charset="77"/>
              </a:rPr>
              <a:t>cond</a:t>
            </a:r>
            <a:r>
              <a:rPr lang="en-US" sz="2000" dirty="0">
                <a:latin typeface="Monaco" pitchFamily="2" charset="77"/>
              </a:rPr>
              <a:t>, label %</a:t>
            </a:r>
            <a:r>
              <a:rPr lang="en-US" sz="2000" dirty="0" err="1">
                <a:latin typeface="Monaco" pitchFamily="2" charset="77"/>
              </a:rPr>
              <a:t>IfEqual</a:t>
            </a:r>
            <a:r>
              <a:rPr lang="en-US" sz="2000" dirty="0">
                <a:latin typeface="Monaco" pitchFamily="2" charset="77"/>
              </a:rPr>
              <a:t>, label %</a:t>
            </a:r>
            <a:r>
              <a:rPr lang="en-US" sz="2000" dirty="0" err="1">
                <a:latin typeface="Monaco" pitchFamily="2" charset="77"/>
              </a:rPr>
              <a:t>IfUnequa</a:t>
            </a:r>
            <a:br>
              <a:rPr lang="en-US" sz="2000" dirty="0">
                <a:latin typeface="Monaco" pitchFamily="2" charset="77"/>
              </a:rPr>
            </a:br>
            <a:r>
              <a:rPr lang="en-US" sz="2000" dirty="0">
                <a:latin typeface="Monaco" pitchFamily="2" charset="77"/>
              </a:rPr>
              <a:t> </a:t>
            </a:r>
            <a:r>
              <a:rPr lang="en-US" sz="2000" dirty="0" err="1">
                <a:latin typeface="Monaco" pitchFamily="2" charset="77"/>
              </a:rPr>
              <a:t>IfEqual</a:t>
            </a:r>
            <a:r>
              <a:rPr lang="en-US" sz="2000" dirty="0">
                <a:latin typeface="Monaco" pitchFamily="2" charset="77"/>
              </a:rPr>
              <a:t>:</a:t>
            </a:r>
            <a:br>
              <a:rPr lang="en-US" sz="2000" dirty="0">
                <a:latin typeface="Monaco" pitchFamily="2" charset="77"/>
              </a:rPr>
            </a:br>
            <a:r>
              <a:rPr lang="en-US" sz="2000" dirty="0">
                <a:latin typeface="Monaco" pitchFamily="2" charset="77"/>
              </a:rPr>
              <a:t>   ret i32 1</a:t>
            </a:r>
            <a:br>
              <a:rPr lang="en-US" sz="2000" dirty="0">
                <a:latin typeface="Monaco" pitchFamily="2" charset="77"/>
              </a:rPr>
            </a:br>
            <a:r>
              <a:rPr lang="en-US" sz="2000" dirty="0">
                <a:latin typeface="Monaco" pitchFamily="2" charset="77"/>
              </a:rPr>
              <a:t> </a:t>
            </a:r>
            <a:r>
              <a:rPr lang="en-US" sz="2000" dirty="0" err="1">
                <a:latin typeface="Monaco" pitchFamily="2" charset="77"/>
              </a:rPr>
              <a:t>IfUnequal</a:t>
            </a:r>
            <a:r>
              <a:rPr lang="en-US" sz="2000" dirty="0">
                <a:latin typeface="Monaco" pitchFamily="2" charset="77"/>
              </a:rPr>
              <a:t>: </a:t>
            </a:r>
            <a:br>
              <a:rPr lang="en-US" sz="2000" dirty="0">
                <a:latin typeface="Monaco" pitchFamily="2" charset="77"/>
              </a:rPr>
            </a:br>
            <a:r>
              <a:rPr lang="en-US" sz="2000" dirty="0">
                <a:latin typeface="Monaco" pitchFamily="2" charset="77"/>
              </a:rPr>
              <a:t>   ret i32 0</a:t>
            </a:r>
            <a:br>
              <a:rPr lang="en-US" dirty="0">
                <a:latin typeface="Monaco" pitchFamily="2" charset="77"/>
              </a:rPr>
            </a:br>
            <a:r>
              <a:rPr lang="en-US" dirty="0">
                <a:latin typeface="Monaco" pitchFamily="2" charset="77"/>
              </a:rPr>
              <a:t>  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245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877272"/>
          </a:xfrm>
        </p:spPr>
        <p:txBody>
          <a:bodyPr/>
          <a:lstStyle/>
          <a:p>
            <a:r>
              <a:rPr lang="en-US" dirty="0"/>
              <a:t>call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מבצעת קריאה לפונקציה.</a:t>
            </a:r>
          </a:p>
          <a:p>
            <a:r>
              <a:rPr lang="he-IL" dirty="0"/>
              <a:t>חייבת להכיל את טיפוס החזרה מהפונקציה או את חתימת הפונקציה לפני שם הפונקציה.</a:t>
            </a:r>
          </a:p>
          <a:p>
            <a:pPr algn="r"/>
            <a:r>
              <a:rPr lang="he-IL" dirty="0"/>
              <a:t>לדוגמא:</a:t>
            </a:r>
          </a:p>
          <a:p>
            <a:pPr marL="0" indent="0" algn="l" rtl="0">
              <a:buNone/>
            </a:pPr>
            <a:r>
              <a:rPr lang="en-US" sz="2000" dirty="0">
                <a:latin typeface="Monaco" pitchFamily="2" charset="77"/>
              </a:rPr>
              <a:t>  %</a:t>
            </a:r>
            <a:r>
              <a:rPr lang="en-US" sz="2000" dirty="0" err="1">
                <a:latin typeface="Monaco" pitchFamily="2" charset="77"/>
              </a:rPr>
              <a:t>retval</a:t>
            </a:r>
            <a:r>
              <a:rPr lang="en-US" sz="2000" dirty="0">
                <a:latin typeface="Monaco" pitchFamily="2" charset="77"/>
              </a:rPr>
              <a:t> = call i32 @test(i32 2) </a:t>
            </a:r>
          </a:p>
          <a:p>
            <a:pPr marL="0" indent="0" algn="l" rtl="0">
              <a:buNone/>
            </a:pPr>
            <a:r>
              <a:rPr lang="en-US" sz="2000" dirty="0">
                <a:latin typeface="Monaco" pitchFamily="2" charset="77"/>
              </a:rPr>
              <a:t>  </a:t>
            </a:r>
          </a:p>
          <a:p>
            <a:pPr marL="0" indent="0" algn="l" rtl="0">
              <a:buNone/>
            </a:pPr>
            <a:r>
              <a:rPr lang="en-US" sz="2000" dirty="0">
                <a:latin typeface="Monaco" pitchFamily="2" charset="77"/>
              </a:rPr>
              <a:t> </a:t>
            </a:r>
            <a:r>
              <a:rPr lang="he-IL" sz="2000" dirty="0">
                <a:latin typeface="Monaco" pitchFamily="2" charset="77"/>
              </a:rPr>
              <a:t>  </a:t>
            </a:r>
            <a:r>
              <a:rPr lang="en-US" sz="2000" dirty="0">
                <a:latin typeface="Monaco" pitchFamily="2" charset="77"/>
              </a:rPr>
              <a:t>%</a:t>
            </a:r>
            <a:r>
              <a:rPr lang="en-US" sz="2000" dirty="0" err="1">
                <a:latin typeface="Monaco" pitchFamily="2" charset="77"/>
              </a:rPr>
              <a:t>retval</a:t>
            </a:r>
            <a:r>
              <a:rPr lang="en-US" sz="2000" dirty="0">
                <a:latin typeface="Monaco" pitchFamily="2" charset="77"/>
              </a:rPr>
              <a:t> = call i32 (i32) @test(i32 2)</a:t>
            </a:r>
          </a:p>
          <a:p>
            <a:pPr marL="0" indent="0" algn="l" rtl="0">
              <a:buNone/>
            </a:pPr>
            <a:br>
              <a:rPr lang="en-US" dirty="0">
                <a:latin typeface="Monaco" pitchFamily="2" charset="77"/>
              </a:rPr>
            </a:br>
            <a:r>
              <a:rPr lang="en-US" dirty="0">
                <a:latin typeface="Monaco" pitchFamily="2" charset="77"/>
              </a:rPr>
              <a:t>  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488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877272"/>
          </a:xfrm>
        </p:spPr>
        <p:txBody>
          <a:bodyPr/>
          <a:lstStyle/>
          <a:p>
            <a:r>
              <a:rPr lang="en-US" dirty="0"/>
              <a:t>ret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מבצעת חזרה מהפונקציה הנוכחית אל הפונקציה הקוראת וממשיכה בביצוע הפקודות שלאחר הקריאה.</a:t>
            </a:r>
          </a:p>
          <a:p>
            <a:pPr algn="r"/>
            <a:r>
              <a:rPr lang="he-IL" dirty="0"/>
              <a:t>לדוגמא:</a:t>
            </a:r>
          </a:p>
          <a:p>
            <a:pPr marL="0" indent="0" algn="l" rtl="0">
              <a:buNone/>
            </a:pPr>
            <a:r>
              <a:rPr lang="en-US" sz="2000" dirty="0">
                <a:latin typeface="Monaco" pitchFamily="2" charset="77"/>
              </a:rPr>
              <a:t>  ret i32 5      ; Return an integer value of 5 </a:t>
            </a:r>
          </a:p>
          <a:p>
            <a:pPr marL="0" indent="0" algn="l" rtl="0">
              <a:buNone/>
            </a:pPr>
            <a:r>
              <a:rPr lang="en-US" sz="2000" dirty="0">
                <a:latin typeface="Monaco" pitchFamily="2" charset="77"/>
              </a:rPr>
              <a:t>  </a:t>
            </a:r>
          </a:p>
          <a:p>
            <a:pPr marL="0" indent="0" algn="l" rtl="0">
              <a:buNone/>
            </a:pPr>
            <a:r>
              <a:rPr lang="en-US" sz="2000" dirty="0">
                <a:latin typeface="Monaco" pitchFamily="2" charset="77"/>
              </a:rPr>
              <a:t>  ret void       ; Return from a void function</a:t>
            </a:r>
            <a:br>
              <a:rPr lang="en-US" dirty="0">
                <a:latin typeface="Monaco" pitchFamily="2" charset="77"/>
              </a:rPr>
            </a:br>
            <a:r>
              <a:rPr lang="en-US" dirty="0">
                <a:latin typeface="Monaco" pitchFamily="2" charset="77"/>
              </a:rPr>
              <a:t>  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28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877272"/>
          </a:xfrm>
        </p:spPr>
        <p:txBody>
          <a:bodyPr/>
          <a:lstStyle/>
          <a:p>
            <a:r>
              <a:rPr lang="en-US" dirty="0"/>
              <a:t>phi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מחזירה את הערך של הרגיסטר בהתאם למסלול ממנו הגענו. </a:t>
            </a:r>
          </a:p>
          <a:p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DE54D-816A-6138-13C0-0EFB1B57C95B}"/>
              </a:ext>
            </a:extLst>
          </p:cNvPr>
          <p:cNvSpPr txBox="1"/>
          <p:nvPr/>
        </p:nvSpPr>
        <p:spPr>
          <a:xfrm>
            <a:off x="344730" y="2692380"/>
            <a:ext cx="37700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cond</a:t>
            </a:r>
            <a:r>
              <a:rPr lang="en-US" dirty="0"/>
              <a:t>:</a:t>
            </a:r>
          </a:p>
          <a:p>
            <a:r>
              <a:rPr lang="en-US" dirty="0"/>
              <a:t>	%b = </a:t>
            </a:r>
            <a:r>
              <a:rPr lang="en-US" dirty="0" err="1"/>
              <a:t>icmp</a:t>
            </a:r>
            <a:r>
              <a:rPr lang="en-US" dirty="0"/>
              <a:t> </a:t>
            </a:r>
            <a:r>
              <a:rPr lang="en-US" dirty="0" err="1"/>
              <a:t>slt</a:t>
            </a:r>
            <a:r>
              <a:rPr lang="en-US" dirty="0"/>
              <a:t> i32 %</a:t>
            </a:r>
            <a:r>
              <a:rPr lang="en-US" dirty="0" err="1"/>
              <a:t>i</a:t>
            </a:r>
            <a:r>
              <a:rPr lang="en-US" dirty="0"/>
              <a:t>, %j</a:t>
            </a:r>
          </a:p>
          <a:p>
            <a:r>
              <a:rPr lang="en-US" dirty="0"/>
              <a:t>	</a:t>
            </a:r>
            <a:r>
              <a:rPr lang="en-US" dirty="0" err="1"/>
              <a:t>br</a:t>
            </a:r>
            <a:r>
              <a:rPr lang="en-US" dirty="0"/>
              <a:t> i1 %b, label %then, </a:t>
            </a:r>
          </a:p>
          <a:p>
            <a:r>
              <a:rPr lang="en-US" dirty="0"/>
              <a:t>		label %else</a:t>
            </a:r>
          </a:p>
          <a:p>
            <a:r>
              <a:rPr lang="en-US" dirty="0"/>
              <a:t>then: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%max = or i32 0, %j</a:t>
            </a:r>
          </a:p>
          <a:p>
            <a:r>
              <a:rPr lang="en-US" dirty="0"/>
              <a:t>	</a:t>
            </a:r>
            <a:r>
              <a:rPr lang="en-US" dirty="0" err="1"/>
              <a:t>br</a:t>
            </a:r>
            <a:r>
              <a:rPr lang="en-US" dirty="0"/>
              <a:t> label %exit	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%max = or i32 0, %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	</a:t>
            </a:r>
            <a:r>
              <a:rPr lang="en-US" dirty="0" err="1"/>
              <a:t>br</a:t>
            </a:r>
            <a:r>
              <a:rPr lang="en-US" dirty="0"/>
              <a:t> label %exit</a:t>
            </a:r>
          </a:p>
          <a:p>
            <a:r>
              <a:rPr lang="en-US" dirty="0"/>
              <a:t>exit:</a:t>
            </a:r>
          </a:p>
          <a:p>
            <a:r>
              <a:rPr lang="en-US" dirty="0"/>
              <a:t>	ret i32 %max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BD6E7-7CD2-D3C9-FD7A-20859FF77BC6}"/>
              </a:ext>
            </a:extLst>
          </p:cNvPr>
          <p:cNvSpPr txBox="1"/>
          <p:nvPr/>
        </p:nvSpPr>
        <p:spPr>
          <a:xfrm>
            <a:off x="4546356" y="2692380"/>
            <a:ext cx="457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cond</a:t>
            </a:r>
            <a:r>
              <a:rPr lang="en-US" dirty="0"/>
              <a:t>:</a:t>
            </a:r>
          </a:p>
          <a:p>
            <a:r>
              <a:rPr lang="en-US" dirty="0"/>
              <a:t>	%b = </a:t>
            </a:r>
            <a:r>
              <a:rPr lang="en-US" dirty="0" err="1"/>
              <a:t>icmp</a:t>
            </a:r>
            <a:r>
              <a:rPr lang="en-US" dirty="0"/>
              <a:t> </a:t>
            </a:r>
            <a:r>
              <a:rPr lang="en-US" dirty="0" err="1"/>
              <a:t>slt</a:t>
            </a:r>
            <a:r>
              <a:rPr lang="en-US" dirty="0"/>
              <a:t> i32 %</a:t>
            </a:r>
            <a:r>
              <a:rPr lang="en-US" dirty="0" err="1"/>
              <a:t>i</a:t>
            </a:r>
            <a:r>
              <a:rPr lang="en-US" dirty="0"/>
              <a:t>, %j</a:t>
            </a:r>
          </a:p>
          <a:p>
            <a:r>
              <a:rPr lang="en-US" dirty="0"/>
              <a:t>	</a:t>
            </a:r>
            <a:r>
              <a:rPr lang="en-US" dirty="0" err="1"/>
              <a:t>br</a:t>
            </a:r>
            <a:r>
              <a:rPr lang="en-US" dirty="0"/>
              <a:t> i1 %b, label %then, </a:t>
            </a:r>
          </a:p>
          <a:p>
            <a:r>
              <a:rPr lang="en-US" dirty="0"/>
              <a:t>		label %else</a:t>
            </a:r>
          </a:p>
          <a:p>
            <a:r>
              <a:rPr lang="en-US" dirty="0"/>
              <a:t>then: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%max1 </a:t>
            </a:r>
            <a:r>
              <a:rPr lang="en-US" dirty="0"/>
              <a:t>= or i32 0, %j</a:t>
            </a:r>
          </a:p>
          <a:p>
            <a:r>
              <a:rPr lang="en-US" dirty="0"/>
              <a:t>	</a:t>
            </a:r>
            <a:r>
              <a:rPr lang="en-US" dirty="0" err="1"/>
              <a:t>br</a:t>
            </a:r>
            <a:r>
              <a:rPr lang="en-US" dirty="0"/>
              <a:t> label %exit	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%max2 </a:t>
            </a:r>
            <a:r>
              <a:rPr lang="en-US" dirty="0"/>
              <a:t>= or i32 0, %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br</a:t>
            </a:r>
            <a:r>
              <a:rPr lang="en-US" dirty="0"/>
              <a:t> label %exit</a:t>
            </a:r>
          </a:p>
          <a:p>
            <a:r>
              <a:rPr lang="en-US" dirty="0"/>
              <a:t>exit:</a:t>
            </a:r>
          </a:p>
          <a:p>
            <a:r>
              <a:rPr lang="en-US" dirty="0"/>
              <a:t>	%max = phi i32 [%max1, %then],</a:t>
            </a:r>
          </a:p>
          <a:p>
            <a:r>
              <a:rPr lang="en-US" dirty="0"/>
              <a:t>		           [%max2, %else]</a:t>
            </a:r>
          </a:p>
          <a:p>
            <a:r>
              <a:rPr lang="en-US" dirty="0"/>
              <a:t>	ret i32 %max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5C350E-0808-7152-178F-C28325A4E135}"/>
              </a:ext>
            </a:extLst>
          </p:cNvPr>
          <p:cNvSpPr/>
          <p:nvPr/>
        </p:nvSpPr>
        <p:spPr>
          <a:xfrm>
            <a:off x="6372200" y="5661248"/>
            <a:ext cx="432048" cy="4474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D3F75F-FD81-4814-A1E7-962F97BE7ADB}"/>
              </a:ext>
            </a:extLst>
          </p:cNvPr>
          <p:cNvCxnSpPr/>
          <p:nvPr/>
        </p:nvCxnSpPr>
        <p:spPr>
          <a:xfrm>
            <a:off x="5580112" y="4293096"/>
            <a:ext cx="23042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DD8FE7-F75C-A6BA-994E-0847FB7F2B0D}"/>
              </a:ext>
            </a:extLst>
          </p:cNvPr>
          <p:cNvCxnSpPr/>
          <p:nvPr/>
        </p:nvCxnSpPr>
        <p:spPr>
          <a:xfrm>
            <a:off x="5580112" y="5085184"/>
            <a:ext cx="23042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CD6A41-D992-1B10-32CE-BCA9663EF26E}"/>
              </a:ext>
            </a:extLst>
          </p:cNvPr>
          <p:cNvCxnSpPr>
            <a:cxnSpLocks/>
          </p:cNvCxnSpPr>
          <p:nvPr/>
        </p:nvCxnSpPr>
        <p:spPr>
          <a:xfrm>
            <a:off x="7308304" y="5877272"/>
            <a:ext cx="6396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3E6CD4-A6D3-1D99-D33B-13CFD3BC29D2}"/>
              </a:ext>
            </a:extLst>
          </p:cNvPr>
          <p:cNvCxnSpPr>
            <a:cxnSpLocks/>
          </p:cNvCxnSpPr>
          <p:nvPr/>
        </p:nvCxnSpPr>
        <p:spPr>
          <a:xfrm>
            <a:off x="7308304" y="6165304"/>
            <a:ext cx="6396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4396CD-F0A6-9600-0499-809023C8EFE1}"/>
              </a:ext>
            </a:extLst>
          </p:cNvPr>
          <p:cNvSpPr txBox="1"/>
          <p:nvPr/>
        </p:nvSpPr>
        <p:spPr>
          <a:xfrm>
            <a:off x="7435807" y="5420926"/>
            <a:ext cx="607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%j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188DED-2305-1021-16BA-516C823BD1DC}"/>
              </a:ext>
            </a:extLst>
          </p:cNvPr>
          <p:cNvSpPr txBox="1"/>
          <p:nvPr/>
        </p:nvSpPr>
        <p:spPr>
          <a:xfrm>
            <a:off x="7435807" y="6311682"/>
            <a:ext cx="607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%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01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4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202A-16A1-A7C2-8497-61E1B26CA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10EF-8318-8392-CC9D-4C6442256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פקודות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21243-D653-90A3-F5D5-650B1ABCD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2702"/>
            <a:ext cx="8229600" cy="2376264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חשוב לדעת על שימוש ב </a:t>
            </a:r>
            <a:r>
              <a:rPr lang="en-US" dirty="0"/>
              <a:t>phi</a:t>
            </a:r>
            <a:r>
              <a:rPr lang="he-IL" dirty="0"/>
              <a:t>:</a:t>
            </a:r>
          </a:p>
          <a:p>
            <a:pPr marL="914400" lvl="1" indent="-514350">
              <a:buFont typeface="+mj-lt"/>
              <a:buAutoNum type="arabicPeriod"/>
            </a:pPr>
            <a:r>
              <a:rPr lang="he-IL" dirty="0"/>
              <a:t>חייבת להופיע בתחילת הבלוק </a:t>
            </a:r>
          </a:p>
          <a:p>
            <a:pPr marL="914400" lvl="1" indent="-514350">
              <a:buFont typeface="+mj-lt"/>
              <a:buAutoNum type="arabicPeriod"/>
            </a:pPr>
            <a:r>
              <a:rPr lang="he-IL" dirty="0"/>
              <a:t>ייבחר הצמד לפי הבלוק שישר לפני בוצע</a:t>
            </a:r>
          </a:p>
          <a:p>
            <a:pPr marL="914400" lvl="1" indent="-514350">
              <a:buFont typeface="+mj-lt"/>
              <a:buAutoNum type="arabicPeriod"/>
            </a:pPr>
            <a:r>
              <a:rPr lang="he-IL" dirty="0"/>
              <a:t>אפשר כמה זוגות כאלה.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D7B13-E78A-8F44-68D9-456E96A3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EA379-EEBB-6AD6-68A4-59EB45A874BB}"/>
              </a:ext>
            </a:extLst>
          </p:cNvPr>
          <p:cNvSpPr txBox="1"/>
          <p:nvPr/>
        </p:nvSpPr>
        <p:spPr>
          <a:xfrm>
            <a:off x="2286000" y="3344029"/>
            <a:ext cx="457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(…)</a:t>
            </a:r>
            <a:endParaRPr lang="he-IL" dirty="0"/>
          </a:p>
          <a:p>
            <a:r>
              <a:rPr lang="en-US" dirty="0"/>
              <a:t>then: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%max1 </a:t>
            </a:r>
            <a:r>
              <a:rPr lang="en-US" dirty="0"/>
              <a:t>= or i32 0, %j</a:t>
            </a:r>
          </a:p>
          <a:p>
            <a:r>
              <a:rPr lang="en-US" dirty="0"/>
              <a:t>	</a:t>
            </a:r>
            <a:r>
              <a:rPr lang="en-US" dirty="0" err="1"/>
              <a:t>br</a:t>
            </a:r>
            <a:r>
              <a:rPr lang="en-US" dirty="0"/>
              <a:t> label %exit	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%max2 </a:t>
            </a:r>
            <a:r>
              <a:rPr lang="en-US" dirty="0"/>
              <a:t>= or i32 0, %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br</a:t>
            </a:r>
            <a:r>
              <a:rPr lang="en-US" dirty="0"/>
              <a:t> label %exit</a:t>
            </a:r>
          </a:p>
          <a:p>
            <a:r>
              <a:rPr lang="en-US" dirty="0"/>
              <a:t>exit:</a:t>
            </a:r>
          </a:p>
          <a:p>
            <a:r>
              <a:rPr lang="en-US" dirty="0"/>
              <a:t>	%max = phi i32 [%max1, %then],</a:t>
            </a:r>
          </a:p>
          <a:p>
            <a:r>
              <a:rPr lang="en-US" dirty="0"/>
              <a:t>		           [%max2, %else]</a:t>
            </a:r>
          </a:p>
          <a:p>
            <a:r>
              <a:rPr lang="en-US" dirty="0"/>
              <a:t>	ret i32 %max</a:t>
            </a:r>
          </a:p>
        </p:txBody>
      </p:sp>
    </p:spTree>
    <p:extLst>
      <p:ext uri="{BB962C8B-B14F-4D97-AF65-F5344CB8AC3E}">
        <p14:creationId xmlns:p14="http://schemas.microsoft.com/office/powerpoint/2010/main" val="2245723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הצהרה על פונקציה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435280" cy="4392488"/>
          </a:xfrm>
        </p:spPr>
        <p:txBody>
          <a:bodyPr/>
          <a:lstStyle/>
          <a:p>
            <a:pPr marL="0" indent="0" algn="l">
              <a:buNone/>
            </a:pPr>
            <a:r>
              <a:rPr lang="en-US" sz="2400" dirty="0">
                <a:latin typeface="Monaco" pitchFamily="2" charset="77"/>
              </a:rPr>
              <a:t>define </a:t>
            </a:r>
            <a:r>
              <a:rPr lang="en-US" sz="2400" dirty="0" err="1">
                <a:latin typeface="Monaco" pitchFamily="2" charset="77"/>
              </a:rPr>
              <a:t>return_type</a:t>
            </a:r>
            <a:r>
              <a:rPr lang="en-US" sz="2400" dirty="0">
                <a:latin typeface="Monaco" pitchFamily="2" charset="77"/>
              </a:rPr>
              <a:t> @function_name(arg1_type, arg2_type,…) {…} </a:t>
            </a:r>
          </a:p>
          <a:p>
            <a:pPr marL="0" indent="0" algn="l">
              <a:buNone/>
            </a:pP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he-IL" sz="2400" dirty="0">
                <a:latin typeface="Monaco" pitchFamily="2" charset="77"/>
              </a:rPr>
              <a:t>לדוגמא:</a:t>
            </a:r>
          </a:p>
          <a:p>
            <a:pPr marL="0" indent="0" algn="l">
              <a:buNone/>
            </a:pPr>
            <a:r>
              <a:rPr lang="en-US" sz="2400" dirty="0">
                <a:latin typeface="Monaco" pitchFamily="2" charset="77"/>
              </a:rPr>
              <a:t>define i32 @my_func(i32) {…}</a:t>
            </a:r>
          </a:p>
          <a:p>
            <a:pPr marL="0" indent="0">
              <a:buNone/>
            </a:pPr>
            <a:br>
              <a:rPr lang="en-US" sz="2400" dirty="0">
                <a:latin typeface="Monaco" pitchFamily="2" charset="77"/>
              </a:rPr>
            </a:br>
            <a:r>
              <a:rPr lang="he-IL" sz="2400" dirty="0">
                <a:latin typeface="Monaco" pitchFamily="2" charset="77"/>
              </a:rPr>
              <a:t>כדי להתייחס לארגומנטים בתוך הפונקציה אנחנו נרשום:</a:t>
            </a:r>
          </a:p>
          <a:p>
            <a:pPr marL="0" indent="0" algn="l" rtl="0">
              <a:buNone/>
            </a:pPr>
            <a:r>
              <a:rPr lang="en-US" sz="2400" dirty="0">
                <a:latin typeface="Monaco" pitchFamily="2" charset="77"/>
              </a:rPr>
              <a:t>%0, %1, %2…</a:t>
            </a:r>
            <a:endParaRPr lang="he-IL" dirty="0">
              <a:latin typeface="Monac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93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7757-239E-B541-BD3C-3EEBF77D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/>
              <a:t>טיפול בקריאה </a:t>
            </a:r>
            <a:r>
              <a:rPr lang="he-IL" dirty="0"/>
              <a:t>לפונקציה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03C06-48B1-5A46-BF66-F733A6A3B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בשפת הביניים של </a:t>
            </a:r>
            <a:r>
              <a:rPr lang="en-US" dirty="0"/>
              <a:t>LLVM</a:t>
            </a:r>
            <a:r>
              <a:rPr lang="he-IL" dirty="0"/>
              <a:t> הקריאה לפונקציה נעשית באמצעות הפקודה </a:t>
            </a:r>
            <a:r>
              <a:rPr lang="en-US" dirty="0"/>
              <a:t>call</a:t>
            </a:r>
            <a:r>
              <a:rPr lang="he-IL" dirty="0"/>
              <a:t>.</a:t>
            </a:r>
          </a:p>
          <a:p>
            <a:r>
              <a:rPr lang="he-IL" dirty="0"/>
              <a:t>הטיפול בקריאה ובחזרה מהפונקציה נעשית ע״י ה-</a:t>
            </a:r>
            <a:r>
              <a:rPr lang="en-US" dirty="0"/>
              <a:t>backend</a:t>
            </a:r>
            <a:r>
              <a:rPr lang="he-IL" dirty="0"/>
              <a:t> של </a:t>
            </a:r>
            <a:r>
              <a:rPr lang="en-US" dirty="0"/>
              <a:t>LLVM</a:t>
            </a:r>
            <a:r>
              <a:rPr lang="he-IL" dirty="0"/>
              <a:t>.</a:t>
            </a:r>
          </a:p>
          <a:p>
            <a:r>
              <a:rPr lang="he-IL" dirty="0"/>
              <a:t>ניתן להקצות מקום על המחסנית בתוך המסגרת של הפונקציה באמצעות </a:t>
            </a:r>
            <a:r>
              <a:rPr lang="en-US" dirty="0" err="1"/>
              <a:t>alloca</a:t>
            </a:r>
            <a:r>
              <a:rPr lang="he-IL" dirty="0"/>
              <a:t> כך שהם מפונים ע״י ה-</a:t>
            </a:r>
            <a:r>
              <a:rPr lang="en-US" dirty="0"/>
              <a:t>backend</a:t>
            </a:r>
            <a:r>
              <a:rPr lang="he-IL" dirty="0"/>
              <a:t> של </a:t>
            </a:r>
            <a:r>
              <a:rPr lang="en-US" dirty="0"/>
              <a:t>LLVM</a:t>
            </a:r>
            <a:r>
              <a:rPr lang="he-IL" dirty="0"/>
              <a:t> בעת היציאה מהפונקציה.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57218-08AC-3244-9D75-5C2193DA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2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BACA-99B4-FC4D-B4ED-730E807A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1112"/>
          </a:xfrm>
        </p:spPr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דוגמא – חישוב </a:t>
            </a:r>
            <a:r>
              <a:rPr lang="he-IL" dirty="0" err="1"/>
              <a:t>פיבונצ׳י</a:t>
            </a:r>
            <a:endParaRPr lang="en-US" dirty="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5F8DE3B-469E-194F-AB54-5AC21EC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62DE-3925-4B46-AB2E-F0C23FFD1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5750"/>
            <a:ext cx="8229600" cy="5616624"/>
          </a:xfrm>
        </p:spPr>
        <p:txBody>
          <a:bodyPr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@.</a:t>
            </a:r>
            <a:r>
              <a:rPr lang="en-US" sz="1400" dirty="0" err="1">
                <a:solidFill>
                  <a:srgbClr val="AA0000"/>
                </a:solidFill>
                <a:latin typeface="Monaco" pitchFamily="2" charset="77"/>
              </a:rPr>
              <a:t>intFormat</a:t>
            </a:r>
            <a:r>
              <a:rPr lang="en-US" sz="1400" dirty="0">
                <a:latin typeface="Monaco" pitchFamily="2" charset="77"/>
              </a:rPr>
              <a:t> =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internal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constant</a:t>
            </a:r>
            <a:r>
              <a:rPr lang="en-US" sz="1400" dirty="0">
                <a:latin typeface="Monaco" pitchFamily="2" charset="77"/>
              </a:rPr>
              <a:t> [</a:t>
            </a: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4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x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i8</a:t>
            </a:r>
            <a:r>
              <a:rPr lang="en-US" sz="1400" dirty="0">
                <a:latin typeface="Monaco" pitchFamily="2" charset="77"/>
              </a:rPr>
              <a:t>] </a:t>
            </a:r>
            <a:r>
              <a:rPr lang="en-US" sz="1400" dirty="0" err="1">
                <a:solidFill>
                  <a:srgbClr val="0000AA"/>
                </a:solidFill>
                <a:latin typeface="Monaco" pitchFamily="2" charset="77"/>
              </a:rPr>
              <a:t>c</a:t>
            </a:r>
            <a:r>
              <a:rPr lang="en-US" sz="1400" dirty="0" err="1">
                <a:solidFill>
                  <a:srgbClr val="AA5500"/>
                </a:solidFill>
                <a:latin typeface="Monaco" pitchFamily="2" charset="77"/>
              </a:rPr>
              <a:t>"%d</a:t>
            </a:r>
            <a:r>
              <a:rPr lang="en-US" sz="1400" dirty="0">
                <a:solidFill>
                  <a:srgbClr val="AA5500"/>
                </a:solidFill>
                <a:latin typeface="Monaco" pitchFamily="2" charset="77"/>
              </a:rPr>
              <a:t>\0A\00”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define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@</a:t>
            </a:r>
            <a:r>
              <a:rPr lang="en-US" sz="1400" dirty="0" err="1">
                <a:solidFill>
                  <a:srgbClr val="AA0000"/>
                </a:solidFill>
                <a:latin typeface="Monaco" pitchFamily="2" charset="77"/>
              </a:rPr>
              <a:t>fn_fib</a:t>
            </a:r>
            <a:r>
              <a:rPr lang="en-US" sz="1400" dirty="0">
                <a:latin typeface="Monaco" pitchFamily="2" charset="77"/>
              </a:rPr>
              <a:t>(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) {</a:t>
            </a:r>
          </a:p>
          <a:p>
            <a:pPr marL="0" indent="0" algn="l" rtl="0">
              <a:buNone/>
            </a:pPr>
            <a:r>
              <a:rPr lang="en-US" sz="1400" dirty="0" err="1">
                <a:latin typeface="Monaco" pitchFamily="2" charset="77"/>
              </a:rPr>
              <a:t>fn_fib_entry</a:t>
            </a:r>
            <a:r>
              <a:rPr lang="en-US" sz="1400" dirty="0">
                <a:latin typeface="Monaco" pitchFamily="2" charset="77"/>
              </a:rPr>
              <a:t>: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  %1</a:t>
            </a:r>
            <a:r>
              <a:rPr lang="en-US" sz="1400" dirty="0">
                <a:latin typeface="Monaco" pitchFamily="2" charset="77"/>
              </a:rPr>
              <a:t> = </a:t>
            </a:r>
            <a:r>
              <a:rPr lang="en-US" sz="1400" dirty="0" err="1">
                <a:solidFill>
                  <a:srgbClr val="0000AA"/>
                </a:solidFill>
                <a:latin typeface="Monaco" pitchFamily="2" charset="77"/>
              </a:rPr>
              <a:t>icmp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 err="1">
                <a:solidFill>
                  <a:srgbClr val="0000AA"/>
                </a:solidFill>
                <a:latin typeface="Monaco" pitchFamily="2" charset="77"/>
              </a:rPr>
              <a:t>sle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%0</a:t>
            </a:r>
            <a:r>
              <a:rPr lang="en-US" sz="1400" dirty="0">
                <a:latin typeface="Monaco" pitchFamily="2" charset="77"/>
              </a:rPr>
              <a:t>, </a:t>
            </a: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1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  </a:t>
            </a:r>
            <a:r>
              <a:rPr lang="en-US" sz="1400" dirty="0" err="1">
                <a:solidFill>
                  <a:srgbClr val="0000AA"/>
                </a:solidFill>
                <a:latin typeface="Monaco" pitchFamily="2" charset="77"/>
              </a:rPr>
              <a:t>br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i1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%1</a:t>
            </a:r>
            <a:r>
              <a:rPr lang="en-US" sz="1400" dirty="0">
                <a:latin typeface="Monaco" pitchFamily="2" charset="77"/>
              </a:rPr>
              <a:t>, </a:t>
            </a:r>
            <a:r>
              <a:rPr lang="en-US" sz="1400" dirty="0">
                <a:solidFill>
                  <a:srgbClr val="00AAAA"/>
                </a:solidFill>
                <a:latin typeface="Monaco" pitchFamily="2" charset="77"/>
              </a:rPr>
              <a:t>label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</a:t>
            </a:r>
            <a:r>
              <a:rPr lang="en-US" sz="1400" dirty="0" err="1">
                <a:solidFill>
                  <a:srgbClr val="AA0000"/>
                </a:solidFill>
                <a:latin typeface="Monaco" pitchFamily="2" charset="77"/>
              </a:rPr>
              <a:t>fn_fib_entry.if</a:t>
            </a:r>
            <a:r>
              <a:rPr lang="en-US" sz="1400" dirty="0">
                <a:latin typeface="Monaco" pitchFamily="2" charset="77"/>
              </a:rPr>
              <a:t>, </a:t>
            </a:r>
            <a:r>
              <a:rPr lang="en-US" sz="1400" dirty="0">
                <a:solidFill>
                  <a:srgbClr val="00AAAA"/>
                </a:solidFill>
                <a:latin typeface="Monaco" pitchFamily="2" charset="77"/>
              </a:rPr>
              <a:t>label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</a:t>
            </a:r>
            <a:r>
              <a:rPr lang="en-US" sz="1400" dirty="0" err="1">
                <a:solidFill>
                  <a:srgbClr val="AA0000"/>
                </a:solidFill>
                <a:latin typeface="Monaco" pitchFamily="2" charset="77"/>
              </a:rPr>
              <a:t>fn_fib_entry.endif</a:t>
            </a:r>
            <a:endParaRPr lang="he-IL" sz="1400" dirty="0">
              <a:solidFill>
                <a:srgbClr val="AA0000"/>
              </a:solidFill>
              <a:latin typeface="Monaco" pitchFamily="2" charset="77"/>
            </a:endParaRPr>
          </a:p>
          <a:p>
            <a:pPr marL="0" indent="0" algn="l" rtl="0">
              <a:buNone/>
            </a:pP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 err="1">
                <a:latin typeface="Monaco" pitchFamily="2" charset="77"/>
              </a:rPr>
              <a:t>fn_fib_entry.if</a:t>
            </a:r>
            <a:r>
              <a:rPr lang="en-US" sz="1400" dirty="0">
                <a:latin typeface="Monaco" pitchFamily="2" charset="77"/>
              </a:rPr>
              <a:t>: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  ret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%0</a:t>
            </a:r>
          </a:p>
          <a:p>
            <a:pPr marL="0" indent="0" algn="l" rtl="0">
              <a:buNone/>
            </a:pPr>
            <a:r>
              <a:rPr lang="en-US" sz="1400" dirty="0" err="1">
                <a:latin typeface="Monaco" pitchFamily="2" charset="77"/>
              </a:rPr>
              <a:t>fn_fib_entry.endif</a:t>
            </a:r>
            <a:r>
              <a:rPr lang="en-US" sz="1400" dirty="0">
                <a:latin typeface="Monaco" pitchFamily="2" charset="77"/>
              </a:rPr>
              <a:t>: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  %2</a:t>
            </a:r>
            <a:r>
              <a:rPr lang="en-US" sz="1400" dirty="0">
                <a:latin typeface="Monaco" pitchFamily="2" charset="77"/>
              </a:rPr>
              <a:t> =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sub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%0</a:t>
            </a:r>
            <a:r>
              <a:rPr lang="en-US" sz="1400" dirty="0">
                <a:latin typeface="Monaco" pitchFamily="2" charset="77"/>
              </a:rPr>
              <a:t>, </a:t>
            </a: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1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 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%3</a:t>
            </a:r>
            <a:r>
              <a:rPr lang="en-US" sz="1400" dirty="0">
                <a:latin typeface="Monaco" pitchFamily="2" charset="77"/>
              </a:rPr>
              <a:t> =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sub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%0</a:t>
            </a:r>
            <a:r>
              <a:rPr lang="en-US" sz="1400" dirty="0">
                <a:latin typeface="Monaco" pitchFamily="2" charset="77"/>
              </a:rPr>
              <a:t>, </a:t>
            </a: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2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 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%4</a:t>
            </a:r>
            <a:r>
              <a:rPr lang="en-US" sz="1400" dirty="0">
                <a:latin typeface="Monaco" pitchFamily="2" charset="77"/>
              </a:rPr>
              <a:t> =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call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@</a:t>
            </a:r>
            <a:r>
              <a:rPr lang="en-US" sz="1400" dirty="0" err="1">
                <a:solidFill>
                  <a:srgbClr val="AA0000"/>
                </a:solidFill>
                <a:latin typeface="Monaco" pitchFamily="2" charset="77"/>
              </a:rPr>
              <a:t>fn_fib</a:t>
            </a:r>
            <a:r>
              <a:rPr lang="en-US" sz="1400" dirty="0">
                <a:latin typeface="Monaco" pitchFamily="2" charset="77"/>
              </a:rPr>
              <a:t>(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%2</a:t>
            </a:r>
            <a:r>
              <a:rPr lang="en-US" sz="1400" dirty="0">
                <a:latin typeface="Monaco" pitchFamily="2" charset="77"/>
              </a:rPr>
              <a:t>)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  %5</a:t>
            </a:r>
            <a:r>
              <a:rPr lang="en-US" sz="1400" dirty="0">
                <a:latin typeface="Monaco" pitchFamily="2" charset="77"/>
              </a:rPr>
              <a:t> =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call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@</a:t>
            </a:r>
            <a:r>
              <a:rPr lang="en-US" sz="1400" dirty="0" err="1">
                <a:solidFill>
                  <a:srgbClr val="AA0000"/>
                </a:solidFill>
                <a:latin typeface="Monaco" pitchFamily="2" charset="77"/>
              </a:rPr>
              <a:t>fn_fib</a:t>
            </a:r>
            <a:r>
              <a:rPr lang="en-US" sz="1400" dirty="0">
                <a:latin typeface="Monaco" pitchFamily="2" charset="77"/>
              </a:rPr>
              <a:t>(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%3</a:t>
            </a:r>
            <a:r>
              <a:rPr lang="en-US" sz="1400" dirty="0">
                <a:latin typeface="Monaco" pitchFamily="2" charset="77"/>
              </a:rPr>
              <a:t>)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  %6</a:t>
            </a:r>
            <a:r>
              <a:rPr lang="en-US" sz="1400" dirty="0">
                <a:latin typeface="Monaco" pitchFamily="2" charset="77"/>
              </a:rPr>
              <a:t> =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add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%4</a:t>
            </a:r>
            <a:r>
              <a:rPr lang="en-US" sz="1400" dirty="0">
                <a:latin typeface="Monaco" pitchFamily="2" charset="77"/>
              </a:rPr>
              <a:t>,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%5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ret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%6</a:t>
            </a:r>
          </a:p>
          <a:p>
            <a:pPr marL="0" indent="0" algn="l" rtl="0">
              <a:buNone/>
            </a:pPr>
            <a:r>
              <a:rPr lang="en-US" sz="1400" dirty="0">
                <a:latin typeface="Monaco" pitchFamily="2" charset="77"/>
              </a:rPr>
              <a:t>}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define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@main</a:t>
            </a:r>
            <a:r>
              <a:rPr lang="en-US" sz="1400" dirty="0">
                <a:latin typeface="Monaco" pitchFamily="2" charset="77"/>
              </a:rPr>
              <a:t>() {</a:t>
            </a:r>
          </a:p>
          <a:p>
            <a:pPr marL="0" indent="0" algn="l" rtl="0">
              <a:buNone/>
            </a:pPr>
            <a:r>
              <a:rPr lang="en-US" sz="1400" dirty="0">
                <a:latin typeface="Monaco" pitchFamily="2" charset="77"/>
              </a:rPr>
              <a:t>entry: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  %0</a:t>
            </a:r>
            <a:r>
              <a:rPr lang="en-US" sz="1400" dirty="0">
                <a:latin typeface="Monaco" pitchFamily="2" charset="77"/>
              </a:rPr>
              <a:t> =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call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@</a:t>
            </a:r>
            <a:r>
              <a:rPr lang="en-US" sz="1400" dirty="0" err="1">
                <a:solidFill>
                  <a:srgbClr val="AA0000"/>
                </a:solidFill>
                <a:latin typeface="Monaco" pitchFamily="2" charset="77"/>
              </a:rPr>
              <a:t>fn_fib</a:t>
            </a:r>
            <a:r>
              <a:rPr lang="en-US" sz="1400" dirty="0">
                <a:latin typeface="Monaco" pitchFamily="2" charset="77"/>
              </a:rPr>
              <a:t>(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10</a:t>
            </a:r>
            <a:r>
              <a:rPr lang="en-US" sz="1400" dirty="0">
                <a:latin typeface="Monaco" pitchFamily="2" charset="77"/>
              </a:rPr>
              <a:t>)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  %1</a:t>
            </a:r>
            <a:r>
              <a:rPr lang="en-US" sz="1400" dirty="0">
                <a:latin typeface="Monaco" pitchFamily="2" charset="77"/>
              </a:rPr>
              <a:t> =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call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(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i8</a:t>
            </a:r>
            <a:r>
              <a:rPr lang="en-US" sz="1400" dirty="0">
                <a:latin typeface="Monaco" pitchFamily="2" charset="77"/>
              </a:rPr>
              <a:t>*, ...)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@</a:t>
            </a:r>
            <a:r>
              <a:rPr lang="en-US" sz="1400" dirty="0" err="1">
                <a:solidFill>
                  <a:srgbClr val="AA0000"/>
                </a:solidFill>
                <a:latin typeface="Monaco" pitchFamily="2" charset="77"/>
              </a:rPr>
              <a:t>printf</a:t>
            </a:r>
            <a:r>
              <a:rPr lang="en-US" sz="1400" dirty="0">
                <a:latin typeface="Monaco" pitchFamily="2" charset="77"/>
              </a:rPr>
              <a:t>(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i8</a:t>
            </a:r>
            <a:r>
              <a:rPr lang="en-US" sz="1400" dirty="0">
                <a:latin typeface="Monaco" pitchFamily="2" charset="77"/>
              </a:rPr>
              <a:t>* </a:t>
            </a:r>
            <a:r>
              <a:rPr lang="en-US" sz="1400" dirty="0" err="1">
                <a:solidFill>
                  <a:srgbClr val="0000AA"/>
                </a:solidFill>
                <a:latin typeface="Monaco" pitchFamily="2" charset="77"/>
              </a:rPr>
              <a:t>getelementptr</a:t>
            </a:r>
            <a:r>
              <a:rPr lang="en-US" sz="1400" dirty="0">
                <a:latin typeface="Monaco" pitchFamily="2" charset="77"/>
              </a:rPr>
              <a:t> ([</a:t>
            </a: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4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x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i8</a:t>
            </a:r>
            <a:r>
              <a:rPr lang="en-US" sz="1400" dirty="0">
                <a:latin typeface="Monaco" pitchFamily="2" charset="77"/>
              </a:rPr>
              <a:t>],</a:t>
            </a:r>
            <a:br>
              <a:rPr lang="en-US" sz="1400" dirty="0">
                <a:latin typeface="Monaco" pitchFamily="2" charset="77"/>
              </a:rPr>
            </a:br>
            <a:r>
              <a:rPr lang="en-US" sz="1400" dirty="0">
                <a:latin typeface="Monaco" pitchFamily="2" charset="77"/>
              </a:rPr>
              <a:t>       [</a:t>
            </a: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4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x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i8</a:t>
            </a:r>
            <a:r>
              <a:rPr lang="en-US" sz="1400" dirty="0">
                <a:latin typeface="Monaco" pitchFamily="2" charset="77"/>
              </a:rPr>
              <a:t>]*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@.</a:t>
            </a:r>
            <a:r>
              <a:rPr lang="en-US" sz="1400" dirty="0" err="1">
                <a:solidFill>
                  <a:srgbClr val="AA0000"/>
                </a:solidFill>
                <a:latin typeface="Monaco" pitchFamily="2" charset="77"/>
              </a:rPr>
              <a:t>intFormat</a:t>
            </a:r>
            <a:r>
              <a:rPr lang="en-US" sz="1400" dirty="0">
                <a:latin typeface="Monaco" pitchFamily="2" charset="77"/>
              </a:rPr>
              <a:t>,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0</a:t>
            </a:r>
            <a:r>
              <a:rPr lang="en-US" sz="1400" dirty="0">
                <a:latin typeface="Monaco" pitchFamily="2" charset="77"/>
              </a:rPr>
              <a:t>,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0</a:t>
            </a:r>
            <a:r>
              <a:rPr lang="en-US" sz="1400" dirty="0">
                <a:latin typeface="Monaco" pitchFamily="2" charset="77"/>
              </a:rPr>
              <a:t>),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%0</a:t>
            </a:r>
            <a:r>
              <a:rPr lang="en-US" sz="1400" dirty="0">
                <a:latin typeface="Monaco" pitchFamily="2" charset="77"/>
              </a:rPr>
              <a:t>)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  ret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9999"/>
                </a:solidFill>
                <a:latin typeface="Monaco" pitchFamily="2" charset="77"/>
              </a:rPr>
              <a:t>0</a:t>
            </a:r>
          </a:p>
          <a:p>
            <a:pPr marL="0" indent="0" algn="l" rtl="0">
              <a:buNone/>
            </a:pPr>
            <a:r>
              <a:rPr lang="en-US" sz="1400" dirty="0">
                <a:latin typeface="Monaco" pitchFamily="2" charset="77"/>
              </a:rPr>
              <a:t>}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declare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i32</a:t>
            </a:r>
            <a:r>
              <a:rPr lang="en-US" sz="1400" dirty="0">
                <a:latin typeface="Monaco" pitchFamily="2" charset="77"/>
              </a:rPr>
              <a:t> </a:t>
            </a:r>
            <a:r>
              <a:rPr lang="en-US" sz="1400" dirty="0">
                <a:solidFill>
                  <a:srgbClr val="AA0000"/>
                </a:solidFill>
                <a:latin typeface="Monaco" pitchFamily="2" charset="77"/>
              </a:rPr>
              <a:t>@</a:t>
            </a:r>
            <a:r>
              <a:rPr lang="en-US" sz="1400" dirty="0" err="1">
                <a:solidFill>
                  <a:srgbClr val="AA0000"/>
                </a:solidFill>
                <a:latin typeface="Monaco" pitchFamily="2" charset="77"/>
              </a:rPr>
              <a:t>printf</a:t>
            </a:r>
            <a:r>
              <a:rPr lang="en-US" sz="1400" dirty="0">
                <a:latin typeface="Monaco" pitchFamily="2" charset="77"/>
              </a:rPr>
              <a:t>(</a:t>
            </a:r>
            <a:r>
              <a:rPr lang="en-US" sz="1400" dirty="0">
                <a:solidFill>
                  <a:srgbClr val="0000AA"/>
                </a:solidFill>
                <a:latin typeface="Monaco" pitchFamily="2" charset="77"/>
              </a:rPr>
              <a:t>i8</a:t>
            </a:r>
            <a:r>
              <a:rPr lang="en-US" sz="1400" dirty="0">
                <a:latin typeface="Monaco" pitchFamily="2" charset="77"/>
              </a:rPr>
              <a:t>*, ...)</a:t>
            </a:r>
            <a:endParaRPr lang="he-IL" sz="1400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24857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40AF1-023E-1C47-864A-FAE97749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הרצת התוכנית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C39D6-A828-9641-A833-A5F8177C8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lli</a:t>
            </a:r>
            <a:r>
              <a:rPr lang="he-IL" dirty="0"/>
              <a:t> הינה </a:t>
            </a:r>
            <a:r>
              <a:rPr lang="he-IL" dirty="0" err="1"/>
              <a:t>תוכנית</a:t>
            </a:r>
            <a:r>
              <a:rPr lang="he-IL" dirty="0"/>
              <a:t> המקמפלת ומריצה באמצעות </a:t>
            </a:r>
            <a:r>
              <a:rPr lang="en-US" dirty="0"/>
              <a:t>JIT (just-in-time) compilation</a:t>
            </a:r>
            <a:r>
              <a:rPr lang="he-IL" dirty="0"/>
              <a:t> </a:t>
            </a:r>
            <a:r>
              <a:rPr lang="he-IL" dirty="0" err="1"/>
              <a:t>תוכניות</a:t>
            </a:r>
            <a:r>
              <a:rPr lang="he-IL" dirty="0"/>
              <a:t> הכתובות בשפת </a:t>
            </a:r>
            <a:r>
              <a:rPr lang="en-US" dirty="0"/>
              <a:t>LLVM</a:t>
            </a:r>
            <a:r>
              <a:rPr lang="he-IL" dirty="0"/>
              <a:t>.</a:t>
            </a:r>
          </a:p>
          <a:p>
            <a:r>
              <a:rPr lang="he-IL" dirty="0"/>
              <a:t>נשתמש בתוכנית </a:t>
            </a:r>
            <a:r>
              <a:rPr lang="en-US" dirty="0" err="1"/>
              <a:t>lli</a:t>
            </a:r>
            <a:r>
              <a:rPr lang="he-IL" dirty="0"/>
              <a:t> בכדי להריץ את התוכנית שייצרנו ב-</a:t>
            </a:r>
            <a:r>
              <a:rPr lang="en-US" dirty="0"/>
              <a:t>LLVM IR</a:t>
            </a:r>
            <a:r>
              <a:rPr lang="he-IL" dirty="0"/>
              <a:t>.</a:t>
            </a:r>
          </a:p>
          <a:p>
            <a:r>
              <a:rPr lang="he-IL" dirty="0"/>
              <a:t>הפקודה הינה</a:t>
            </a:r>
            <a:r>
              <a:rPr lang="en-US" dirty="0"/>
              <a:t>:</a:t>
            </a:r>
          </a:p>
          <a:p>
            <a:pPr marL="0" indent="0" algn="l" rtl="0">
              <a:buNone/>
            </a:pPr>
            <a:r>
              <a:rPr lang="en-US" sz="2800" dirty="0" err="1">
                <a:latin typeface="Monaco" pitchFamily="2" charset="77"/>
              </a:rPr>
              <a:t>lli</a:t>
            </a:r>
            <a:r>
              <a:rPr lang="en-US" sz="2800" dirty="0">
                <a:latin typeface="Monaco" pitchFamily="2" charset="77"/>
              </a:rPr>
              <a:t> </a:t>
            </a:r>
            <a:r>
              <a:rPr lang="en-US" sz="2800" dirty="0" err="1">
                <a:latin typeface="Monaco" pitchFamily="2" charset="77"/>
              </a:rPr>
              <a:t>example.ll</a:t>
            </a:r>
            <a:endParaRPr lang="en-US" sz="2800" dirty="0">
              <a:latin typeface="Monaco" pitchFamily="2" charset="77"/>
            </a:endParaRPr>
          </a:p>
          <a:p>
            <a:pPr marL="0" indent="0" algn="l" rtl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5265F-075F-CB4E-A8A7-5B677D960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C70CBE-F4FF-411F-80CE-830C5F1665F4}" type="slidenum">
              <a:rPr lang="he-IL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030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4|0.1|0.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20664</TotalTime>
  <Words>2000</Words>
  <Application>Microsoft Office PowerPoint</Application>
  <PresentationFormat>On-screen Show (4:3)</PresentationFormat>
  <Paragraphs>246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Monaco</vt:lpstr>
      <vt:lpstr>Default Design</vt:lpstr>
      <vt:lpstr>Office Theme</vt:lpstr>
      <vt:lpstr>LLVM IR- Low-Level Virtual Machine Intermediate Representation</vt:lpstr>
      <vt:lpstr>תזכורת מהתרגולים הקודמים</vt:lpstr>
      <vt:lpstr>LLVM IR</vt:lpstr>
      <vt:lpstr>LLVM IR</vt:lpstr>
      <vt:lpstr>טיפוסים</vt:lpstr>
      <vt:lpstr>טיפוסים</vt:lpstr>
      <vt:lpstr>פקודות</vt:lpstr>
      <vt:lpstr>פקודות</vt:lpstr>
      <vt:lpstr>פקודות</vt:lpstr>
      <vt:lpstr>פקודות</vt:lpstr>
      <vt:lpstr>פקודות</vt:lpstr>
      <vt:lpstr>פקודות</vt:lpstr>
      <vt:lpstr>Terminator Instruction</vt:lpstr>
      <vt:lpstr>פקודות</vt:lpstr>
      <vt:lpstr>פקודות</vt:lpstr>
      <vt:lpstr>פקודות</vt:lpstr>
      <vt:lpstr>פקודות</vt:lpstr>
      <vt:lpstr>פקודות</vt:lpstr>
      <vt:lpstr>פקודות</vt:lpstr>
      <vt:lpstr>הצהרה על פונקציה</vt:lpstr>
      <vt:lpstr>טיפול בקריאה לפונקציה</vt:lpstr>
      <vt:lpstr>דוגמא – חישוב פיבונצ׳י</vt:lpstr>
      <vt:lpstr>הרצת התוכנית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sakogan</dc:creator>
  <cp:lastModifiedBy>Guy Sudai</cp:lastModifiedBy>
  <cp:revision>253</cp:revision>
  <dcterms:created xsi:type="dcterms:W3CDTF">2007-07-08T15:13:13Z</dcterms:created>
  <dcterms:modified xsi:type="dcterms:W3CDTF">2025-06-09T13:24:36Z</dcterms:modified>
</cp:coreProperties>
</file>